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7" r:id="rId2"/>
    <p:sldId id="265" r:id="rId3"/>
    <p:sldId id="268" r:id="rId4"/>
    <p:sldId id="267" r:id="rId5"/>
    <p:sldId id="266" r:id="rId6"/>
  </p:sldIdLst>
  <p:sldSz cx="7559675" cy="10691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orient="horz" pos="6543" userDrawn="1">
          <p15:clr>
            <a:srgbClr val="A4A3A4"/>
          </p15:clr>
        </p15:guide>
        <p15:guide id="4" pos="4536" userDrawn="1">
          <p15:clr>
            <a:srgbClr val="A4A3A4"/>
          </p15:clr>
        </p15:guide>
        <p15:guide id="5" pos="2018" userDrawn="1">
          <p15:clr>
            <a:srgbClr val="A4A3A4"/>
          </p15:clr>
        </p15:guide>
        <p15:guide id="6" pos="170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00AE98-F756-BC17-1DFD-ABD5ADAD9096}" name="May" initials="M" userId="Ma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94E"/>
    <a:srgbClr val="21416E"/>
    <a:srgbClr val="586F96"/>
    <a:srgbClr val="328EB2"/>
    <a:srgbClr val="F2F2F2"/>
    <a:srgbClr val="9AE6FC"/>
    <a:srgbClr val="94ECFF"/>
    <a:srgbClr val="F0F4F8"/>
    <a:srgbClr val="E8EDF5"/>
    <a:srgbClr val="1E2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1"/>
    <p:restoredTop sz="96110"/>
  </p:normalViewPr>
  <p:slideViewPr>
    <p:cSldViewPr snapToGrid="0" snapToObjects="1" showGuides="1">
      <p:cViewPr>
        <p:scale>
          <a:sx n="129" d="100"/>
          <a:sy n="129" d="100"/>
        </p:scale>
        <p:origin x="-1736" y="152"/>
      </p:cViewPr>
      <p:guideLst>
        <p:guide orient="horz" pos="192"/>
        <p:guide pos="226"/>
        <p:guide orient="horz" pos="6543"/>
        <p:guide pos="4536"/>
        <p:guide pos="2018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2EFD8-579D-DC43-8153-0E5170CB9FF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FD18B-6F0D-B242-B8DB-A9C8031FF8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7585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75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7585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7585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5650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89760" indent="0">
              <a:buNone/>
              <a:defRPr sz="1655"/>
            </a:lvl6pPr>
            <a:lvl7pPr marL="2267585" indent="0">
              <a:buNone/>
              <a:defRPr sz="1655"/>
            </a:lvl7pPr>
            <a:lvl8pPr marL="2646045" indent="0">
              <a:buNone/>
              <a:defRPr sz="1655"/>
            </a:lvl8pPr>
            <a:lvl9pPr marL="3023870" indent="0">
              <a:buNone/>
              <a:defRPr sz="1655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2F9F0-879C-7047-9871-8D1078BC6F4D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479F4-EACF-5A48-A87B-4131E0C011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650" rtl="0" eaLnBrk="1" latinLnBrk="0" hangingPunct="1">
        <a:lnSpc>
          <a:spcPct val="90000"/>
        </a:lnSpc>
        <a:spcBef>
          <a:spcPct val="0"/>
        </a:spcBef>
        <a:buNone/>
        <a:defRPr sz="36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latinLnBrk="0" hangingPunct="1">
        <a:lnSpc>
          <a:spcPct val="90000"/>
        </a:lnSpc>
        <a:spcBef>
          <a:spcPts val="825"/>
        </a:spcBef>
        <a:buFont typeface="Arial" panose="020B060402020209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2705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4640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2465" indent="-189230" algn="l" defTabSz="755650" rtl="0" eaLnBrk="1" latinLnBrk="0" hangingPunct="1">
        <a:lnSpc>
          <a:spcPct val="90000"/>
        </a:lnSpc>
        <a:spcBef>
          <a:spcPts val="415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758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B1EB723-56C1-4218-2187-E1FA0C9A5A18}"/>
              </a:ext>
            </a:extLst>
          </p:cNvPr>
          <p:cNvSpPr/>
          <p:nvPr/>
        </p:nvSpPr>
        <p:spPr>
          <a:xfrm>
            <a:off x="1" y="1838915"/>
            <a:ext cx="7559674" cy="88528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0E239CC8-DC34-19EB-3F3F-D91FF0DD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" t="30571" r="1782" b="23635"/>
          <a:stretch>
            <a:fillRect/>
          </a:stretch>
        </p:blipFill>
        <p:spPr>
          <a:xfrm>
            <a:off x="0" y="-80501"/>
            <a:ext cx="7559675" cy="1948536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66463" y="2326797"/>
            <a:ext cx="6834437" cy="1101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</a:pPr>
            <a:r>
              <a:rPr lang="en" altLang="zh-CN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端全链路市场策略与操盘，擅长冷启动：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曾在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个业务场景（供应链金融科技、产业数字化）中跑通获客到转化的完整链路，半年最高带来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2000+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线索及百万营收。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algn="just">
              <a:lnSpc>
                <a:spcPts val="1600"/>
              </a:lnSpc>
            </a:pP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洞察方法论跨岗位复用：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将用户洞察结果转化为内容策略，驱动营销决策；并纳入团队标准工作流赋能全员。</a:t>
            </a:r>
          </a:p>
          <a:p>
            <a:pPr algn="just">
              <a:lnSpc>
                <a:spcPts val="1600"/>
              </a:lnSpc>
            </a:pP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团队搭建与人才赋能：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0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到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搭建营销基础设施、团队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SOP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，亲自带教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名成员（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年以下经验、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名零经验），培养成可独立负责所在模块的骨干；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能快速在新团队新环境中建立可落地的市场增长体系。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9DBE4AD6-C74B-C199-4CCA-CC5AB34D3788}"/>
              </a:ext>
            </a:extLst>
          </p:cNvPr>
          <p:cNvCxnSpPr>
            <a:cxnSpLocks/>
          </p:cNvCxnSpPr>
          <p:nvPr/>
        </p:nvCxnSpPr>
        <p:spPr>
          <a:xfrm>
            <a:off x="363419" y="2313060"/>
            <a:ext cx="68374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3651AAF-3EF1-513C-5BD4-1895B807FCD4}"/>
              </a:ext>
            </a:extLst>
          </p:cNvPr>
          <p:cNvSpPr txBox="1"/>
          <p:nvPr/>
        </p:nvSpPr>
        <p:spPr>
          <a:xfrm>
            <a:off x="2583611" y="4246468"/>
            <a:ext cx="5167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AF41EA9-78A4-1D8D-66CC-C7F1F23BF4B9}"/>
              </a:ext>
            </a:extLst>
          </p:cNvPr>
          <p:cNvGrpSpPr/>
          <p:nvPr/>
        </p:nvGrpSpPr>
        <p:grpSpPr>
          <a:xfrm>
            <a:off x="1011230" y="-82658"/>
            <a:ext cx="4382686" cy="1957158"/>
            <a:chOff x="505001" y="-92942"/>
            <a:chExt cx="4382686" cy="1957158"/>
          </a:xfrm>
        </p:grpSpPr>
        <p:sp>
          <p:nvSpPr>
            <p:cNvPr id="4" name="文本框 3"/>
            <p:cNvSpPr txBox="1"/>
            <p:nvPr/>
          </p:nvSpPr>
          <p:spPr>
            <a:xfrm>
              <a:off x="2714289" y="296278"/>
              <a:ext cx="1770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李梅</a:t>
              </a:r>
              <a:r>
                <a:rPr kumimoji="1" lang="en-US" altLang="zh-CN" dirty="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  May Lee</a:t>
              </a:r>
              <a:endParaRPr kumimoji="1"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33941" y="590588"/>
              <a:ext cx="2153746" cy="1168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32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岁｜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10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年经验</a:t>
              </a:r>
              <a:endPara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  <a:p>
              <a:pPr>
                <a:lnSpc>
                  <a:spcPct val="150000"/>
                </a:lnSpc>
              </a:pP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华南理工大学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(985) 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Tel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：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159-1591-7840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（微信同）</a:t>
              </a:r>
              <a:endPara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E-mail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：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mei_lee@126.com</a:t>
              </a:r>
              <a:endPara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F0BDDE30-E32F-7AD8-9DDB-0521631AA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39499"/>
            <a:stretch>
              <a:fillRect/>
            </a:stretch>
          </p:blipFill>
          <p:spPr>
            <a:xfrm>
              <a:off x="505001" y="-92942"/>
              <a:ext cx="2287345" cy="1957158"/>
            </a:xfrm>
            <a:prstGeom prst="rect">
              <a:avLst/>
            </a:prstGeom>
          </p:spPr>
        </p:pic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C8079397-BBEC-93AC-FEDE-6F3B630081E1}"/>
              </a:ext>
            </a:extLst>
          </p:cNvPr>
          <p:cNvSpPr txBox="1"/>
          <p:nvPr/>
        </p:nvSpPr>
        <p:spPr>
          <a:xfrm>
            <a:off x="278391" y="19247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个人优势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0B2877F9-A2E9-6DC1-D867-A1A3745B0C29}"/>
              </a:ext>
            </a:extLst>
          </p:cNvPr>
          <p:cNvCxnSpPr/>
          <p:nvPr/>
        </p:nvCxnSpPr>
        <p:spPr>
          <a:xfrm>
            <a:off x="358775" y="2313060"/>
            <a:ext cx="902826" cy="0"/>
          </a:xfrm>
          <a:prstGeom prst="line">
            <a:avLst/>
          </a:prstGeom>
          <a:ln w="28575">
            <a:solidFill>
              <a:srgbClr val="2141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028F9A2F-EF46-F51A-0FE7-DE991D924FF9}"/>
              </a:ext>
            </a:extLst>
          </p:cNvPr>
          <p:cNvCxnSpPr>
            <a:cxnSpLocks/>
          </p:cNvCxnSpPr>
          <p:nvPr/>
        </p:nvCxnSpPr>
        <p:spPr>
          <a:xfrm>
            <a:off x="364678" y="3873146"/>
            <a:ext cx="683622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FCB90FC-C914-BF08-E871-6FEBC5499F4E}"/>
              </a:ext>
            </a:extLst>
          </p:cNvPr>
          <p:cNvSpPr txBox="1"/>
          <p:nvPr/>
        </p:nvSpPr>
        <p:spPr>
          <a:xfrm>
            <a:off x="279650" y="3495720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应用能力</a:t>
            </a: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9F3B6110-4CF0-BB91-D92B-09291282BACE}"/>
              </a:ext>
            </a:extLst>
          </p:cNvPr>
          <p:cNvCxnSpPr/>
          <p:nvPr/>
        </p:nvCxnSpPr>
        <p:spPr>
          <a:xfrm>
            <a:off x="360034" y="3873146"/>
            <a:ext cx="902826" cy="0"/>
          </a:xfrm>
          <a:prstGeom prst="line">
            <a:avLst/>
          </a:prstGeom>
          <a:ln w="28575">
            <a:solidFill>
              <a:srgbClr val="2141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2DD26A3-9F96-7315-5B10-BB190F70CA42}"/>
              </a:ext>
            </a:extLst>
          </p:cNvPr>
          <p:cNvSpPr txBox="1"/>
          <p:nvPr/>
        </p:nvSpPr>
        <p:spPr>
          <a:xfrm>
            <a:off x="305090" y="3912509"/>
            <a:ext cx="6895809" cy="130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ts val="1600"/>
              </a:lnSpc>
              <a:buFont typeface="+mj-lt"/>
              <a:buAutoNum type="arabicPeriod"/>
            </a:pPr>
            <a:r>
              <a:rPr lang="en" altLang="zh-CN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工作流标准化：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在独立顾问项目中，将完整参展流程拆解为标准化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AI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工作流（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Skill</a:t>
            </a:r>
            <a:r>
              <a:rPr lang="zh-CN" altLang="e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），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覆盖展会定位、物料生产、获客与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CRM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承接全链路，零经验人员可按流程完整执行。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228600" indent="-228600" algn="just">
              <a:lnSpc>
                <a:spcPts val="1600"/>
              </a:lnSpc>
              <a:buFont typeface="+mj-lt"/>
              <a:buAutoNum type="arabicPeriod"/>
            </a:pPr>
            <a:r>
              <a:rPr lang="en-US" altLang="zh-CN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驱动营销内容生产降本提速：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在独立顾问项目中，建立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“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ChatGPT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策划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+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即梦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/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ChatGPT Image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生成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”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的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AI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内容生产工作流，独立完成海报、易拉宝、短视频等全套物料从策划到成品的闭环。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228600" indent="-228600" algn="just">
              <a:lnSpc>
                <a:spcPts val="1600"/>
              </a:lnSpc>
              <a:buFont typeface="+mj-lt"/>
              <a:buAutoNum type="arabicPeriod"/>
            </a:pPr>
            <a:r>
              <a:rPr lang="en" altLang="zh-CN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机会识别框架驱动平台业务拓展：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建立“企业痛点→AI适配度→落地路径”的AI机会识别方法论，通过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50+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企业调研，推动4类AI场景落地，并转化为平台的业务开发素材和标杆案例。</a:t>
            </a: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Microsoft YaHei Light" charset="-122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440EED-55B6-2656-4154-DD781F6E8283}"/>
              </a:ext>
            </a:extLst>
          </p:cNvPr>
          <p:cNvSpPr txBox="1"/>
          <p:nvPr/>
        </p:nvSpPr>
        <p:spPr>
          <a:xfrm>
            <a:off x="305090" y="52950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工作经历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30F1BE9-07D0-E645-92F6-8A5982233B06}"/>
              </a:ext>
            </a:extLst>
          </p:cNvPr>
          <p:cNvGrpSpPr/>
          <p:nvPr/>
        </p:nvGrpSpPr>
        <p:grpSpPr>
          <a:xfrm>
            <a:off x="385474" y="5737798"/>
            <a:ext cx="6815426" cy="0"/>
            <a:chOff x="385474" y="5737798"/>
            <a:chExt cx="6815426" cy="0"/>
          </a:xfrm>
        </p:grpSpPr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E7A25699-BD0F-BC83-88EA-61D360E1722F}"/>
                </a:ext>
              </a:extLst>
            </p:cNvPr>
            <p:cNvCxnSpPr>
              <a:cxnSpLocks/>
            </p:cNvCxnSpPr>
            <p:nvPr/>
          </p:nvCxnSpPr>
          <p:spPr>
            <a:xfrm>
              <a:off x="390118" y="5737798"/>
              <a:ext cx="681078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BA64F1E5-16E9-4E25-EC2C-EF8C1C3BC011}"/>
                </a:ext>
              </a:extLst>
            </p:cNvPr>
            <p:cNvCxnSpPr/>
            <p:nvPr/>
          </p:nvCxnSpPr>
          <p:spPr>
            <a:xfrm>
              <a:off x="385474" y="5737798"/>
              <a:ext cx="902826" cy="0"/>
            </a:xfrm>
            <a:prstGeom prst="line">
              <a:avLst/>
            </a:prstGeom>
            <a:ln w="28575">
              <a:solidFill>
                <a:srgbClr val="2141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13D3908-3A62-07AB-507A-DB08AD6716C8}"/>
              </a:ext>
            </a:extLst>
          </p:cNvPr>
          <p:cNvGrpSpPr/>
          <p:nvPr/>
        </p:nvGrpSpPr>
        <p:grpSpPr>
          <a:xfrm>
            <a:off x="270456" y="5799583"/>
            <a:ext cx="6896037" cy="1764665"/>
            <a:chOff x="4660" y="7702"/>
            <a:chExt cx="10860" cy="2779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B113A9F-B2FF-0CEB-A284-623F8FCD29DA}"/>
                </a:ext>
              </a:extLst>
            </p:cNvPr>
            <p:cNvSpPr txBox="1"/>
            <p:nvPr/>
          </p:nvSpPr>
          <p:spPr>
            <a:xfrm>
              <a:off x="4672" y="7702"/>
              <a:ext cx="10458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2025.2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–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2026.3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广州之云科技｜品牌与增长部门负责人｜广州花都区数字化转型平台总运营单位</a:t>
              </a:r>
              <a:endParaRPr kumimoji="1" lang="zh-CN" altLang="en-US" sz="1100" dirty="0">
                <a:solidFill>
                  <a:srgbClr val="10294E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18C2752-18FC-3910-866C-B80D018ECAF7}"/>
                </a:ext>
              </a:extLst>
            </p:cNvPr>
            <p:cNvSpPr txBox="1"/>
            <p:nvPr/>
          </p:nvSpPr>
          <p:spPr>
            <a:xfrm>
              <a:off x="4660" y="8100"/>
              <a:ext cx="10860" cy="2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制定增长年度规划、SOP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，搭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基础设施，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带领团队从零起步运营，全年沉淀私域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企业2000+、企业人次8000+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全年向销售输送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意向企业线索50+家；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负责实体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展厅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建设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与运营规划，接待100+场政企参观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5+地区政府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运营模式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感兴趣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其中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区政府深入对接后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明确提出由我方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承接代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运营，推进至方案阶段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线下活动获客，通过跨部门协同，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曾实现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展会单日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近1000条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留资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深入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调研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企业50+家，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洞察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并推动AI赋能场景（AI调香、AI辅助设计、AI零件识别等），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将调研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结果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沉淀为洞察库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活动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提供依据。                                                                     </a:t>
              </a:r>
              <a:r>
                <a:rPr lang="zh-CN" altLang="en-US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｜荣誉：年度绩效</a:t>
              </a:r>
              <a:r>
                <a:rPr lang="en-US" altLang="zh-CN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B6ACCFC-BF3E-F3B5-B7D8-8F35F1B9DAB5}"/>
              </a:ext>
            </a:extLst>
          </p:cNvPr>
          <p:cNvGrpSpPr/>
          <p:nvPr/>
        </p:nvGrpSpPr>
        <p:grpSpPr>
          <a:xfrm>
            <a:off x="278391" y="7584096"/>
            <a:ext cx="7223507" cy="1311745"/>
            <a:chOff x="4747" y="4164"/>
            <a:chExt cx="11376" cy="2066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C21BC5F-67E5-6621-C23D-B8395397AE97}"/>
                </a:ext>
              </a:extLst>
            </p:cNvPr>
            <p:cNvSpPr txBox="1"/>
            <p:nvPr/>
          </p:nvSpPr>
          <p:spPr>
            <a:xfrm>
              <a:off x="4747" y="4164"/>
              <a:ext cx="11376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2021.7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-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2024.12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sym typeface="+mn-ea"/>
                </a:rPr>
                <a:t> 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联易融数科｜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用户研究专家→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数字营销负责人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Microsoft YaHei Light" charset="-122"/>
                  <a:ea typeface="Microsoft YaHei Light" charset="-122"/>
                  <a:cs typeface="微软雅黑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国内首家供应链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FinTech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上市企业</a:t>
              </a:r>
              <a:endParaRPr kumimoji="1" lang="zh-CN" altLang="en-US" sz="1100" dirty="0">
                <a:solidFill>
                  <a:srgbClr val="10294E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636EBCC-5BCD-64A7-8D4B-00BDDCD4B0AA}"/>
                </a:ext>
              </a:extLst>
            </p:cNvPr>
            <p:cNvSpPr txBox="1"/>
            <p:nvPr/>
          </p:nvSpPr>
          <p:spPr>
            <a:xfrm>
              <a:off x="4747" y="4495"/>
              <a:ext cx="10938" cy="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2021/7 - 2022/8 </a:t>
              </a:r>
              <a:r>
                <a:rPr kumimoji="1"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：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sym typeface="+mn-ea"/>
                </a:rPr>
                <a:t>作为用研专家，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到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1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搭建客户体验管理平台，落地产品体验与行为指标监控、按灯机制。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2022/8 -2024/12</a:t>
              </a:r>
              <a:r>
                <a:rPr kumimoji="1" lang="zh-CN" altLang="en-US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：</a:t>
              </a:r>
              <a:r>
                <a:rPr kumimoji="1"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小微企业业务线数字营销负责人</a:t>
              </a:r>
              <a:endPara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中电票据平台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营销工作，平台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累计沉淀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价值客户，融资规模超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3.5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亿元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获集团年度创新项目奖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统筹电商供应链金融业务营销工作，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半年累计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2000+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线索，带来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超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百万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业务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algn="just">
                <a:lnSpc>
                  <a:spcPts val="1600"/>
                </a:lnSpc>
              </a:pPr>
              <a:r>
                <a:rPr lang="zh-CN" altLang="en-US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｜荣誉：集团星级讲师 </a:t>
              </a:r>
              <a:r>
                <a:rPr lang="en-US" altLang="zh-CN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· </a:t>
              </a:r>
              <a:r>
                <a:rPr lang="zh-CN" altLang="en-US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新员工正式导师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9158D7E-EFBB-ECF1-A849-3CBC0E23C04F}"/>
              </a:ext>
            </a:extLst>
          </p:cNvPr>
          <p:cNvGrpSpPr/>
          <p:nvPr/>
        </p:nvGrpSpPr>
        <p:grpSpPr>
          <a:xfrm>
            <a:off x="274557" y="8915992"/>
            <a:ext cx="6835537" cy="480695"/>
            <a:chOff x="4840" y="4431"/>
            <a:chExt cx="10765" cy="757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8F05C84-3A9F-D418-941B-E779C631500E}"/>
                </a:ext>
              </a:extLst>
            </p:cNvPr>
            <p:cNvSpPr txBox="1"/>
            <p:nvPr/>
          </p:nvSpPr>
          <p:spPr>
            <a:xfrm>
              <a:off x="4840" y="4431"/>
              <a:ext cx="636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2020.5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- 2021.6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华为（云计算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BG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）｜用户研究专家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4DEB15C-92D3-5B16-95B7-37742AA80F4F}"/>
                </a:ext>
              </a:extLst>
            </p:cNvPr>
            <p:cNvSpPr txBox="1"/>
            <p:nvPr/>
          </p:nvSpPr>
          <p:spPr>
            <a:xfrm>
              <a:off x="4845" y="4746"/>
              <a:ext cx="10760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云服务体验指标体系、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用户场景库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搭建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持续向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设计、运营、数据团队赋能用研方法论。  </a:t>
              </a:r>
              <a:r>
                <a:rPr lang="zh-CN" altLang="en-US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｜</a:t>
              </a:r>
              <a:r>
                <a:rPr lang="zh-CN" altLang="en-US" sz="1100" b="1" dirty="0">
                  <a:solidFill>
                    <a:srgbClr val="10294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荣誉：体验之星</a:t>
              </a:r>
              <a:endParaRPr lang="en-US" altLang="zh-CN" sz="1100" b="1" dirty="0">
                <a:solidFill>
                  <a:srgbClr val="1029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F59A425-296A-6D21-C485-DC7548A4BC3C}"/>
              </a:ext>
            </a:extLst>
          </p:cNvPr>
          <p:cNvGrpSpPr/>
          <p:nvPr/>
        </p:nvGrpSpPr>
        <p:grpSpPr>
          <a:xfrm>
            <a:off x="272138" y="9438968"/>
            <a:ext cx="6896035" cy="497205"/>
            <a:chOff x="4854" y="8188"/>
            <a:chExt cx="10860" cy="78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F90EC1F-8D72-AC11-005D-41656A173DB2}"/>
                </a:ext>
              </a:extLst>
            </p:cNvPr>
            <p:cNvSpPr txBox="1"/>
            <p:nvPr/>
          </p:nvSpPr>
          <p:spPr>
            <a:xfrm>
              <a:off x="4854" y="8188"/>
              <a:ext cx="7007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2019.4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–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2020.5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sym typeface="+mn-ea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Honeywell 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UX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Researcher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｜世界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500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强美企</a:t>
              </a:r>
              <a:endParaRPr kumimoji="1" lang="zh-CN" altLang="en-US" sz="1100" dirty="0">
                <a:solidFill>
                  <a:srgbClr val="10294E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D7F882D-F10C-A183-61AA-A2BC1F383C84}"/>
                </a:ext>
              </a:extLst>
            </p:cNvPr>
            <p:cNvSpPr txBox="1"/>
            <p:nvPr/>
          </p:nvSpPr>
          <p:spPr>
            <a:xfrm>
              <a:off x="4878" y="8529"/>
              <a:ext cx="10836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防护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类硬件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产品全生命周期研究；面罩创新研究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项目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6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个概念产出，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个纳入研发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飞织口罩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创新产品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iF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93672BE-0B55-AA99-1B88-1D4993BBB4F1}"/>
              </a:ext>
            </a:extLst>
          </p:cNvPr>
          <p:cNvGrpSpPr/>
          <p:nvPr/>
        </p:nvGrpSpPr>
        <p:grpSpPr>
          <a:xfrm>
            <a:off x="278076" y="9975448"/>
            <a:ext cx="6826885" cy="489585"/>
            <a:chOff x="4721" y="12189"/>
            <a:chExt cx="10751" cy="771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F055330-3F1D-FBA2-D806-E4FA4E703606}"/>
                </a:ext>
              </a:extLst>
            </p:cNvPr>
            <p:cNvSpPr txBox="1"/>
            <p:nvPr/>
          </p:nvSpPr>
          <p:spPr>
            <a:xfrm>
              <a:off x="4721" y="12189"/>
              <a:ext cx="8839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2016.10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–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</a:rPr>
                <a:t>2019.3</a:t>
              </a:r>
              <a:r>
                <a:rPr kumimoji="1" lang="en-US" altLang="zh-CN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sym typeface="+mn-ea"/>
                </a:rPr>
                <a:t> ISAR</a:t>
              </a:r>
              <a:r>
                <a:rPr kumimoji="1" lang="zh-CN" altLang="en-US" sz="1100" dirty="0">
                  <a:solidFill>
                    <a:srgbClr val="10294E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界面设计｜用户研究｜国内首家用户体验专业咨询公司</a:t>
              </a:r>
              <a:endParaRPr kumimoji="1" lang="zh-CN" altLang="en-US" sz="1100" dirty="0">
                <a:solidFill>
                  <a:srgbClr val="10294E"/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F8B6BC9-CD94-3B5E-9A0D-DA4086682D82}"/>
                </a:ext>
              </a:extLst>
            </p:cNvPr>
            <p:cNvSpPr txBox="1"/>
            <p:nvPr/>
          </p:nvSpPr>
          <p:spPr>
            <a:xfrm>
              <a:off x="4721" y="12518"/>
              <a:ext cx="1075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负责研究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方案、投标竞标、执行交付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完整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流程；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海尔智能冰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箱研究结论落地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产品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2019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年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上市并参展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AWE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F6353E2-C973-6577-F358-04FECAD3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" t="30571" r="1782" b="53954"/>
          <a:stretch>
            <a:fillRect/>
          </a:stretch>
        </p:blipFill>
        <p:spPr>
          <a:xfrm>
            <a:off x="0" y="-80501"/>
            <a:ext cx="7559675" cy="65845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8774" y="117885"/>
            <a:ext cx="6423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精选项目经历</a:t>
            </a:r>
            <a:endParaRPr kumimoji="1" lang="zh-CN" altLang="en-US" sz="1600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0950" y="712012"/>
            <a:ext cx="467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产业</a:t>
            </a:r>
            <a:r>
              <a:rPr kumimoji="1" lang="en" altLang="zh-CN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AI</a:t>
            </a:r>
            <a:r>
              <a:rPr kumimoji="1" lang="zh-CN" altLang="en-US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数字化</a:t>
            </a:r>
          </a:p>
        </p:txBody>
      </p:sp>
      <p:cxnSp>
        <p:nvCxnSpPr>
          <p:cNvPr id="5" name="直线连接符 4"/>
          <p:cNvCxnSpPr>
            <a:cxnSpLocks/>
          </p:cNvCxnSpPr>
          <p:nvPr/>
        </p:nvCxnSpPr>
        <p:spPr>
          <a:xfrm>
            <a:off x="428385" y="896657"/>
            <a:ext cx="0" cy="9374017"/>
          </a:xfrm>
          <a:prstGeom prst="line">
            <a:avLst/>
          </a:prstGeom>
          <a:ln w="3175">
            <a:solidFill>
              <a:srgbClr val="1545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05435" y="848952"/>
            <a:ext cx="47705" cy="47705"/>
          </a:xfrm>
          <a:prstGeom prst="ellipse">
            <a:avLst/>
          </a:prstGeom>
          <a:solidFill>
            <a:srgbClr val="154563"/>
          </a:solidFill>
          <a:ln>
            <a:solidFill>
              <a:srgbClr val="1545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9671" y="1041170"/>
            <a:ext cx="6739938" cy="213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花都区新型工业化数字服务平台品牌增长与企业运营｜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2025-2026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｜广州之云科技</a:t>
            </a:r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600"/>
              </a:lnSpc>
            </a:pP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品牌与增长负责人</a:t>
            </a:r>
            <a:endParaRPr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背景：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政府产业数字化平台，需要从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0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到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冷启动，并尽快步入运营正轨。</a:t>
            </a:r>
            <a:endParaRPr lang="en-US" altLang="zh-CN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角色及职责：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主导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花都区产业数字化平台品牌表达、内容运营、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线下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活动、企业触达与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持续运营；带领团队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形成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“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企业调研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场景识别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内容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活动触达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线索沉淀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企业运营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”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的平台增长闭环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。</a:t>
            </a:r>
            <a:endParaRPr lang="zh-CN" altLang="zh-CN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关键动作：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周均调研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1-2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家企业，以结构化访谈为核心方法，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围绕企业真实需求，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洞察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识别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AI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在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产品研发、设计、生产供应、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营销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销售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服务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运营等方向的落地机会。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将调研结论沉淀为企业痛点图谱与场景库，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为平台后续内容矩阵、活动策划、企业服务方案和生态资源匹配提供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素材与洞察支撑，确保平台输出与企业实际需求对接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。</a:t>
            </a:r>
            <a:endParaRPr lang="en-US" altLang="zh-CN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成果：</a:t>
            </a:r>
            <a:r>
              <a:rPr lang="zh-CN" altLang="zh-CN" sz="1200" dirty="0"/>
              <a:t> 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落地</a:t>
            </a:r>
            <a:r>
              <a:rPr lang="zh-CN" altLang="zh-CN" sz="1200" dirty="0"/>
              <a:t>8个AI标杆案例</a:t>
            </a:r>
            <a:r>
              <a:rPr lang="zh-CN" altLang="en-US" sz="1200" dirty="0"/>
              <a:t>、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沉淀私域</a:t>
            </a:r>
            <a:r>
              <a:rPr kumimoji="1" lang="zh-CN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企业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2000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+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高意向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企业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线索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50+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、展厅</a:t>
            </a:r>
            <a:r>
              <a:rPr lang="zh-C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政企接待100+场</a:t>
            </a:r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。</a:t>
            </a:r>
            <a:endParaRPr lang="en-US" altLang="zh-CN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D85D64-606F-79F3-45AA-CED574E76FEC}"/>
              </a:ext>
            </a:extLst>
          </p:cNvPr>
          <p:cNvSpPr txBox="1"/>
          <p:nvPr/>
        </p:nvSpPr>
        <p:spPr>
          <a:xfrm>
            <a:off x="459671" y="3241421"/>
            <a:ext cx="467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B2B</a:t>
            </a:r>
            <a:r>
              <a:rPr kumimoji="1" lang="zh-CN" altLang="en-US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营销转化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CF9BBD-4EB7-89AD-F3F2-AB6F06CA1313}"/>
              </a:ext>
            </a:extLst>
          </p:cNvPr>
          <p:cNvSpPr txBox="1"/>
          <p:nvPr/>
        </p:nvSpPr>
        <p:spPr>
          <a:xfrm>
            <a:off x="435818" y="5397056"/>
            <a:ext cx="2264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客户体验管理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03D010-ABD8-3375-31D6-6DEF7CAAFB22}"/>
              </a:ext>
            </a:extLst>
          </p:cNvPr>
          <p:cNvSpPr txBox="1"/>
          <p:nvPr/>
        </p:nvSpPr>
        <p:spPr>
          <a:xfrm>
            <a:off x="467106" y="3573610"/>
            <a:ext cx="6708128" cy="1720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电商供应链金融业务新媒体矩阵获客专项营销｜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2022-2024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｜联易融数科｜数字营销负责人</a:t>
            </a:r>
          </a:p>
          <a:p>
            <a:pPr algn="just"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背景：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作为创新产品初面市，客户认知度低、信任度不高，传统销售方式效率不高。</a:t>
            </a:r>
            <a:endParaRPr kumimoji="1"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角色及职责：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担任数字营销负责人，负责</a:t>
            </a:r>
            <a:r>
              <a:rPr kumimoji="1"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4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人团队营销规划、跨部门协同。</a:t>
            </a:r>
            <a:endParaRPr kumimoji="1"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关键动作：</a:t>
            </a:r>
            <a:endParaRPr kumimoji="1" lang="en-US" altLang="zh-CN" sz="1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通过对目标客群的访谈与问卷调研，明确其内容消费习惯、信任建立路径与融资决策触发场景；以洞察结论驱动账号矩阵设计：品牌号建立背书，专家号输出专业信任，引流号唤醒融资需求；</a:t>
            </a:r>
            <a:endParaRPr kumimoji="1"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形成从内容选题、拍摄剪辑、线索管理、私域孵化、销售跟进转化的闭环。</a:t>
            </a:r>
            <a:endParaRPr kumimoji="1"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成果：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累计带来</a:t>
            </a:r>
            <a:r>
              <a:rPr kumimoji="1"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2000+</a:t>
            </a:r>
            <a:r>
              <a:rPr kumimoji="1"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线索，百万营收；沉淀了可复制的新媒体获客打法、市场销售协同机制。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F18B2B-9CA7-20CC-732E-01B1CD9C19F1}"/>
              </a:ext>
            </a:extLst>
          </p:cNvPr>
          <p:cNvSpPr txBox="1"/>
          <p:nvPr/>
        </p:nvSpPr>
        <p:spPr>
          <a:xfrm>
            <a:off x="459678" y="5738327"/>
            <a:ext cx="6739937" cy="2332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客户体验管理平台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到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搭建及机制落地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2021-2022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｜联易融数科｜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研究专家</a:t>
            </a:r>
          </a:p>
          <a:p>
            <a:pPr algn="just"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背景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：联易融服务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KA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、金融机构、小微企业等多类</a:t>
            </a:r>
            <a:r>
              <a:rPr kumimoji="1" lang="en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B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端客户，业务链长、触点多，客户问题分散。过去客户体验工作依赖单次项目，缺乏可持续性及落地抓手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角色及职责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微软雅黑" charset="-122"/>
              </a:rPr>
              <a:t>作为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核心负责人，主导体验管理平台从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0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到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1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搭建，并重点负责平台逻辑梳理、业务场景拆解、看板需求梳理，并于平台落地后持续跟进优化反馈。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关键动作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围绕“监测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-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整合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-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洞察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-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行动”闭环，主导梳理客户画像、旅程、触点监测、体验数据、预警工单等模块；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结合供应链金融业务场景，拆解不同层级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BI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驾驶舱（老板、管理层、执行层）；</a:t>
            </a:r>
          </a:p>
          <a:p>
            <a:pPr algn="just"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跟进平台落地试点项目：客户活跃度提升研究、按灯机制等。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成果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支撑了客户体验监测、体验数据看板、问题预警和工单闭环，使体验研究从“阶段性专项分析”逐步转向“持续监测、预警和改进”的管理机制。</a:t>
            </a:r>
            <a:endParaRPr kumimoji="1" lang="zh-CN" alt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F9AB2D2-0C48-CB21-2B2E-2DC38E588390}"/>
              </a:ext>
            </a:extLst>
          </p:cNvPr>
          <p:cNvSpPr/>
          <p:nvPr/>
        </p:nvSpPr>
        <p:spPr>
          <a:xfrm>
            <a:off x="411966" y="3385726"/>
            <a:ext cx="47705" cy="47705"/>
          </a:xfrm>
          <a:prstGeom prst="ellipse">
            <a:avLst/>
          </a:prstGeom>
          <a:solidFill>
            <a:srgbClr val="154563"/>
          </a:solidFill>
          <a:ln>
            <a:solidFill>
              <a:srgbClr val="1545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CC8B45A-B9AB-A3D3-5B31-6F5FF96E39C4}"/>
              </a:ext>
            </a:extLst>
          </p:cNvPr>
          <p:cNvSpPr/>
          <p:nvPr/>
        </p:nvSpPr>
        <p:spPr>
          <a:xfrm>
            <a:off x="413650" y="5560195"/>
            <a:ext cx="45719" cy="47705"/>
          </a:xfrm>
          <a:prstGeom prst="ellipse">
            <a:avLst/>
          </a:prstGeom>
          <a:solidFill>
            <a:srgbClr val="154563"/>
          </a:solidFill>
          <a:ln>
            <a:solidFill>
              <a:srgbClr val="1545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3E510E-4953-C5A0-8CCC-C6DAADF25EDD}"/>
              </a:ext>
            </a:extLst>
          </p:cNvPr>
          <p:cNvSpPr txBox="1"/>
          <p:nvPr/>
        </p:nvSpPr>
        <p:spPr>
          <a:xfrm>
            <a:off x="459671" y="8115262"/>
            <a:ext cx="467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u="sng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</a:rPr>
              <a:t>用户研究产品创新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3B003E-3E53-CD95-D271-1A3BF548CFDF}"/>
              </a:ext>
            </a:extLst>
          </p:cNvPr>
          <p:cNvSpPr txBox="1"/>
          <p:nvPr/>
        </p:nvSpPr>
        <p:spPr>
          <a:xfrm>
            <a:off x="495978" y="8441985"/>
            <a:ext cx="6704922" cy="1922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呼吸防护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产品创新研究项目｜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2018-2019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Honeywell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</a:t>
            </a:r>
            <a:r>
              <a:rPr lang="zh-CN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研究专家</a:t>
            </a:r>
          </a:p>
          <a:p>
            <a:pPr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背景：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呼吸防护产品业务需要为产品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5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年规划寻找创新方向。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角色：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作为主导研究人员，进行研究设计、执行、共创工作坊、英文报告撰写与汇报。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关键动作：</a:t>
            </a:r>
            <a:endParaRPr kumimoji="1" lang="en-US" altLang="zh-CN" sz="1100" b="1" dirty="0">
              <a:solidFill>
                <a:schemeClr val="tx1">
                  <a:lumMod val="95000"/>
                  <a:lumOff val="5000"/>
                </a:schemeClr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向项目参与部门（研发、市场、销售）培训 </a:t>
            </a:r>
            <a:r>
              <a:rPr kumimoji="1" lang="en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JTBD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（</a:t>
            </a:r>
            <a:r>
              <a:rPr kumimoji="1" lang="en-US" altLang="zh-CN" sz="1100" dirty="0">
                <a:solidFill>
                  <a:srgbClr val="154563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Jobs To Be Done</a:t>
            </a:r>
            <a:r>
              <a:rPr kumimoji="1" lang="zh-CN" altLang="en-US" sz="1100" dirty="0">
                <a:solidFill>
                  <a:srgbClr val="154563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）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研究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方法，提高专业研究认可度；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通过影随观察和访谈，进入真实作业环境，梳理岗位角色、工作流程、产品使用场景和体验痛点；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·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产出用户画像、体验旅程、痛点象限，并组织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2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轮共创工作坊，将用户洞察转化为产品创新概念；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>
              <a:lnSpc>
                <a:spcPts val="1600"/>
              </a:lnSpc>
            </a:pPr>
            <a:r>
              <a:rPr kumimoji="1" lang="zh-CN" alt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成果：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产出全英文研究报告，向研发、市场、销售跨部门团队汇报；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6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个产品创新概念中，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3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个被纳入研发计划。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65005AD-ECAA-4838-AA63-5B6A5B1C3FC8}"/>
              </a:ext>
            </a:extLst>
          </p:cNvPr>
          <p:cNvSpPr/>
          <p:nvPr/>
        </p:nvSpPr>
        <p:spPr>
          <a:xfrm>
            <a:off x="403033" y="8260943"/>
            <a:ext cx="45719" cy="47705"/>
          </a:xfrm>
          <a:prstGeom prst="ellipse">
            <a:avLst/>
          </a:prstGeom>
          <a:solidFill>
            <a:srgbClr val="154563"/>
          </a:solidFill>
          <a:ln>
            <a:solidFill>
              <a:srgbClr val="1545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C319-09FB-2B71-5A0B-6A236835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A9D8D48-7009-6E5F-D628-D4DE2987EC62}"/>
              </a:ext>
            </a:extLst>
          </p:cNvPr>
          <p:cNvSpPr/>
          <p:nvPr/>
        </p:nvSpPr>
        <p:spPr>
          <a:xfrm>
            <a:off x="0" y="1873640"/>
            <a:ext cx="7559675" cy="88085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3A3A6F28-E1DC-3453-2837-68856494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" t="30571" r="1782" b="23635"/>
          <a:stretch>
            <a:fillRect/>
          </a:stretch>
        </p:blipFill>
        <p:spPr>
          <a:xfrm>
            <a:off x="0" y="-80501"/>
            <a:ext cx="7559675" cy="19485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68D57DF-8215-D96D-B7F0-A7ECAEC4FDF7}"/>
              </a:ext>
            </a:extLst>
          </p:cNvPr>
          <p:cNvSpPr txBox="1"/>
          <p:nvPr/>
        </p:nvSpPr>
        <p:spPr>
          <a:xfrm>
            <a:off x="2792346" y="286452"/>
            <a:ext cx="148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李梅（</a:t>
            </a:r>
            <a:r>
              <a:rPr kumimoji="1" lang="en-US" altLang="zh-CN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93</a:t>
            </a:r>
            <a:r>
              <a:rPr kumimoji="1"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年）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BD0FFD-00BA-6214-0C2E-6D8CC412A179}"/>
              </a:ext>
            </a:extLst>
          </p:cNvPr>
          <p:cNvSpPr txBox="1"/>
          <p:nvPr/>
        </p:nvSpPr>
        <p:spPr>
          <a:xfrm>
            <a:off x="2747742" y="838242"/>
            <a:ext cx="2403041" cy="61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华南理工大学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(985) 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Tel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：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159-1591-7840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（微信同）</a:t>
            </a:r>
            <a:endParaRPr kumimoji="1" lang="en-US" altLang="zh-CN" sz="1200" dirty="0">
              <a:solidFill>
                <a:schemeClr val="bg1"/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F77591-4BEB-FDD0-969E-A55BF9CE3976}"/>
              </a:ext>
            </a:extLst>
          </p:cNvPr>
          <p:cNvSpPr txBox="1"/>
          <p:nvPr/>
        </p:nvSpPr>
        <p:spPr>
          <a:xfrm>
            <a:off x="366463" y="2568497"/>
            <a:ext cx="2341965" cy="3531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ts val="1800"/>
              </a:lnSpc>
              <a:buFontTx/>
              <a:buAutoNum type="arabicPeriod"/>
            </a:pP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端全链路市场策略与操盘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algn="just">
              <a:lnSpc>
                <a:spcPts val="18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曾在金融科技和产业数字化两个赛道跑通获客到转化的完整链路，半年最高带来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2000+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线索及百万营收；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228600" indent="-228600" algn="just">
              <a:lnSpc>
                <a:spcPts val="18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洞察方法论跨岗位复用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algn="just">
              <a:lnSpc>
                <a:spcPts val="18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将用户需求洞察转化为内容策略与转化路径，驱动营销决策；并纳入团队标准工作流，赋能全员。</a:t>
            </a:r>
          </a:p>
          <a:p>
            <a:pPr marL="228600" indent="-228600" algn="just">
              <a:lnSpc>
                <a:spcPts val="1800"/>
              </a:lnSpc>
              <a:buFontTx/>
              <a:buAutoNum type="arabicPeriod"/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团队搭建与人才赋能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algn="just">
              <a:lnSpc>
                <a:spcPts val="18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0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到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搭建营销基础设施、团队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SOP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，亲自带教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名成员（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年以下经验、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名无零经验），培养成可独立负责所在模块的骨干；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能快速在新团队新环境中建立可落地的市场增长体系。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FCE6058-C934-20D4-9200-58AC1B79B809}"/>
              </a:ext>
            </a:extLst>
          </p:cNvPr>
          <p:cNvGrpSpPr/>
          <p:nvPr/>
        </p:nvGrpSpPr>
        <p:grpSpPr>
          <a:xfrm>
            <a:off x="3165880" y="7901761"/>
            <a:ext cx="4039095" cy="910590"/>
            <a:chOff x="4840" y="4401"/>
            <a:chExt cx="6361" cy="143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1B387AB-7F10-FA0F-1C14-3B58AF16DD60}"/>
                </a:ext>
              </a:extLst>
            </p:cNvPr>
            <p:cNvSpPr txBox="1"/>
            <p:nvPr/>
          </p:nvSpPr>
          <p:spPr>
            <a:xfrm>
              <a:off x="4840" y="4401"/>
              <a:ext cx="636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- 2021.6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华为（云计算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BG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）｜用户研究专家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7AE3BAD-EAD0-487C-6779-5D09C25C9C2C}"/>
                </a:ext>
              </a:extLst>
            </p:cNvPr>
            <p:cNvSpPr txBox="1"/>
            <p:nvPr/>
          </p:nvSpPr>
          <p:spPr>
            <a:xfrm>
              <a:off x="4884" y="4746"/>
              <a:ext cx="6316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云服务体验指标体系、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用户场景库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搭建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持续向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设计、运营、数据团队赋能用研方法论。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荣誉：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“体验之星”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D8A0F99-2D71-69BC-70A5-80DDBBE58871}"/>
              </a:ext>
            </a:extLst>
          </p:cNvPr>
          <p:cNvGrpSpPr/>
          <p:nvPr/>
        </p:nvGrpSpPr>
        <p:grpSpPr>
          <a:xfrm>
            <a:off x="3151910" y="8805863"/>
            <a:ext cx="4449403" cy="917575"/>
            <a:chOff x="4854" y="8173"/>
            <a:chExt cx="7007" cy="144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4590824-0E9B-0291-FFB2-CF3EAEC89EFA}"/>
                </a:ext>
              </a:extLst>
            </p:cNvPr>
            <p:cNvSpPr txBox="1"/>
            <p:nvPr/>
          </p:nvSpPr>
          <p:spPr>
            <a:xfrm>
              <a:off x="4854" y="8173"/>
              <a:ext cx="7007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2019.4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Honeywell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UX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Researcher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｜世界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500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强美企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B51F1FD-BB15-2F42-0226-8CAD3EC39855}"/>
                </a:ext>
              </a:extLst>
            </p:cNvPr>
            <p:cNvSpPr txBox="1"/>
            <p:nvPr/>
          </p:nvSpPr>
          <p:spPr>
            <a:xfrm>
              <a:off x="4878" y="8529"/>
              <a:ext cx="6358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呼吸防护、扫码、防护服等产品全生命周期研究；面罩创新研究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项目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6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个概念产出，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个纳入研发计划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飞织口罩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创新研究项目中产品概念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iF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14D3979-10D7-A7C4-ADE9-402E571BCA7E}"/>
              </a:ext>
            </a:extLst>
          </p:cNvPr>
          <p:cNvGrpSpPr/>
          <p:nvPr/>
        </p:nvGrpSpPr>
        <p:grpSpPr>
          <a:xfrm>
            <a:off x="3134129" y="9732930"/>
            <a:ext cx="4070350" cy="1132205"/>
            <a:chOff x="4739" y="12099"/>
            <a:chExt cx="6410" cy="1783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9014B7A-B8A4-B29D-69D8-D3C1660E4BF8}"/>
                </a:ext>
              </a:extLst>
            </p:cNvPr>
            <p:cNvSpPr txBox="1"/>
            <p:nvPr/>
          </p:nvSpPr>
          <p:spPr>
            <a:xfrm>
              <a:off x="4833" y="12099"/>
              <a:ext cx="6316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2016.10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2019.3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ISAR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界面设计｜用户研究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｜国内首家用户体验专业咨询公司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FC2BC34-C127-79AE-25EE-293CE0C7E835}"/>
                </a:ext>
              </a:extLst>
            </p:cNvPr>
            <p:cNvSpPr txBox="1"/>
            <p:nvPr/>
          </p:nvSpPr>
          <p:spPr>
            <a:xfrm>
              <a:off x="4739" y="12793"/>
              <a:ext cx="6410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负责研究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方案设计、投标竞标、执行交付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、报告汇报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等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完整项目管理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流程；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海尔智能冰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箱研究结论落地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产品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2019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年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上市并参展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AWE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511A972-D006-497C-F46D-54FEDB9B5011}"/>
              </a:ext>
            </a:extLst>
          </p:cNvPr>
          <p:cNvGrpSpPr/>
          <p:nvPr/>
        </p:nvGrpSpPr>
        <p:grpSpPr>
          <a:xfrm>
            <a:off x="3151909" y="5613250"/>
            <a:ext cx="4143865" cy="2142223"/>
            <a:chOff x="4747" y="4134"/>
            <a:chExt cx="6526" cy="337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2DD899F-9DAD-5465-A4E5-E10EF0CBD3F0}"/>
                </a:ext>
              </a:extLst>
            </p:cNvPr>
            <p:cNvSpPr txBox="1"/>
            <p:nvPr/>
          </p:nvSpPr>
          <p:spPr>
            <a:xfrm>
              <a:off x="4813" y="4134"/>
              <a:ext cx="6460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2021.7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2024.12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联易融数科｜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用户研究专家→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数字营销负责人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微软雅黑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国内首家供应链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FinTech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上市企业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597C2E2-1219-72BC-3364-5340B9989A2D}"/>
                </a:ext>
              </a:extLst>
            </p:cNvPr>
            <p:cNvSpPr txBox="1"/>
            <p:nvPr/>
          </p:nvSpPr>
          <p:spPr>
            <a:xfrm>
              <a:off x="4747" y="4804"/>
              <a:ext cx="6410" cy="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2021/7 - 2022/8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：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sym typeface="+mn-ea"/>
                </a:rPr>
                <a:t>作为用研专家，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到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1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搭建客户体验管理平台，落地产品体验与行为指标监控、按灯机制。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2022/8 -2024/12</a:t>
              </a:r>
              <a:r>
                <a:rPr kumimoji="1" lang="zh-CN" altLang="en-US" sz="1100" b="1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：小微企业业务线数字营销负责人</a:t>
              </a:r>
              <a:endParaRPr kumimoji="1" lang="en-US" altLang="zh-CN" sz="1100" b="1" dirty="0">
                <a:solidFill>
                  <a:srgbClr val="154563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中国电子票据平台项目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营销工作，平台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累计沉淀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价值客户，融资规模超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3.5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亿元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获集团年度创新项目奖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统筹电商供应链金融业务线营销工作，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新媒体半年累计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2000+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线索，带来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超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百万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业务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｜荣誉：集团星级讲师 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· </a:t>
              </a: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新员工正式导师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6991E9A-AD38-0316-D436-6855B7F29AF3}"/>
              </a:ext>
            </a:extLst>
          </p:cNvPr>
          <p:cNvGrpSpPr/>
          <p:nvPr/>
        </p:nvGrpSpPr>
        <p:grpSpPr>
          <a:xfrm>
            <a:off x="3165880" y="2591829"/>
            <a:ext cx="4027133" cy="3200400"/>
            <a:chOff x="4750" y="7702"/>
            <a:chExt cx="6342" cy="5040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5712A04-B7C1-64AD-265F-777F68BEB77F}"/>
                </a:ext>
              </a:extLst>
            </p:cNvPr>
            <p:cNvSpPr txBox="1"/>
            <p:nvPr/>
          </p:nvSpPr>
          <p:spPr>
            <a:xfrm>
              <a:off x="4854" y="7702"/>
              <a:ext cx="6238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2025.2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2026.3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广州之云科技｜品牌与增长部门负责人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｜广州花都区数字化转型平台总运营单位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8E32CA9-25F9-E4BB-EFEA-3EE673D5B1D1}"/>
                </a:ext>
              </a:extLst>
            </p:cNvPr>
            <p:cNvSpPr txBox="1"/>
            <p:nvPr/>
          </p:nvSpPr>
          <p:spPr>
            <a:xfrm>
              <a:off x="4750" y="8422"/>
              <a:ext cx="6301" cy="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制定增长年度规划、SOP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，搭建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基础设施，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带领团队从零建立运营能力，全年沉淀私域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企业2000+、企业人次8000+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2000㎡线下展厅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内容与运营规划，半年接待100+场政企参观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5+地区政府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运营模式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感兴趣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其中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区政府深入对接后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明确提出由我方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承接代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运营，推进至方案阶段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线下宣讲与活动获客，全年向销售输送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意向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及预算基础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的企业线索50+家；通过跨部门协同，展会单日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近1000条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留资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深入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调研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企业50+家，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洞察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并推动AI赋能场景（AI调香、AI辅助设计、AI零件识别等），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将调研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结果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沉淀为洞察库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活动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提供依据。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｜荣誉：年度绩效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</a:t>
              </a:r>
            </a:p>
          </p:txBody>
        </p:sp>
      </p:grp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818AC0C8-95B8-56A8-75BA-1D4A9DDB9632}"/>
              </a:ext>
            </a:extLst>
          </p:cNvPr>
          <p:cNvCxnSpPr>
            <a:cxnSpLocks/>
          </p:cNvCxnSpPr>
          <p:nvPr/>
        </p:nvCxnSpPr>
        <p:spPr>
          <a:xfrm>
            <a:off x="363419" y="2516260"/>
            <a:ext cx="23369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9932418-E5B2-129F-707E-254E6EC1D628}"/>
              </a:ext>
            </a:extLst>
          </p:cNvPr>
          <p:cNvSpPr txBox="1"/>
          <p:nvPr/>
        </p:nvSpPr>
        <p:spPr>
          <a:xfrm>
            <a:off x="2583611" y="5155085"/>
            <a:ext cx="5167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4F65906-AD33-2094-C2EF-F4CCD6AA2A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39499"/>
          <a:stretch>
            <a:fillRect/>
          </a:stretch>
        </p:blipFill>
        <p:spPr>
          <a:xfrm>
            <a:off x="505001" y="-92942"/>
            <a:ext cx="2287345" cy="1957158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3DF7CF2E-0BA1-A36B-E542-9012C3DB7535}"/>
              </a:ext>
            </a:extLst>
          </p:cNvPr>
          <p:cNvSpPr txBox="1"/>
          <p:nvPr/>
        </p:nvSpPr>
        <p:spPr>
          <a:xfrm>
            <a:off x="278391" y="20735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个人优势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704D503D-95B9-CB4E-C6DE-D702AA521BF7}"/>
              </a:ext>
            </a:extLst>
          </p:cNvPr>
          <p:cNvCxnSpPr/>
          <p:nvPr/>
        </p:nvCxnSpPr>
        <p:spPr>
          <a:xfrm>
            <a:off x="358775" y="2516260"/>
            <a:ext cx="902826" cy="0"/>
          </a:xfrm>
          <a:prstGeom prst="line">
            <a:avLst/>
          </a:prstGeom>
          <a:ln w="28575">
            <a:solidFill>
              <a:srgbClr val="2141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38111219-3AB1-71EF-51EF-BC24665BFA83}"/>
              </a:ext>
            </a:extLst>
          </p:cNvPr>
          <p:cNvCxnSpPr>
            <a:cxnSpLocks/>
          </p:cNvCxnSpPr>
          <p:nvPr/>
        </p:nvCxnSpPr>
        <p:spPr>
          <a:xfrm>
            <a:off x="3203575" y="2521908"/>
            <a:ext cx="398943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803B585-C7F1-2FE7-2E45-5D9986A0150B}"/>
              </a:ext>
            </a:extLst>
          </p:cNvPr>
          <p:cNvSpPr txBox="1"/>
          <p:nvPr/>
        </p:nvSpPr>
        <p:spPr>
          <a:xfrm>
            <a:off x="3118547" y="20791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工作经历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F25636C-85ED-918C-A6B8-869719AB213B}"/>
              </a:ext>
            </a:extLst>
          </p:cNvPr>
          <p:cNvCxnSpPr/>
          <p:nvPr/>
        </p:nvCxnSpPr>
        <p:spPr>
          <a:xfrm>
            <a:off x="3198931" y="2521908"/>
            <a:ext cx="902826" cy="0"/>
          </a:xfrm>
          <a:prstGeom prst="line">
            <a:avLst/>
          </a:prstGeom>
          <a:ln w="28575">
            <a:solidFill>
              <a:srgbClr val="2141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C925F591-2DD4-5B12-2F83-D31B02677F88}"/>
              </a:ext>
            </a:extLst>
          </p:cNvPr>
          <p:cNvCxnSpPr>
            <a:cxnSpLocks/>
          </p:cNvCxnSpPr>
          <p:nvPr/>
        </p:nvCxnSpPr>
        <p:spPr>
          <a:xfrm>
            <a:off x="371107" y="6543261"/>
            <a:ext cx="23369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6F0E4D7-8692-9F5C-1916-7E109B5F9385}"/>
              </a:ext>
            </a:extLst>
          </p:cNvPr>
          <p:cNvSpPr txBox="1"/>
          <p:nvPr/>
        </p:nvSpPr>
        <p:spPr>
          <a:xfrm>
            <a:off x="286079" y="6100519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应用能力</a:t>
            </a: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39AA13A2-B503-F37D-DB40-8FBE80BEF4FE}"/>
              </a:ext>
            </a:extLst>
          </p:cNvPr>
          <p:cNvCxnSpPr/>
          <p:nvPr/>
        </p:nvCxnSpPr>
        <p:spPr>
          <a:xfrm>
            <a:off x="366463" y="6543261"/>
            <a:ext cx="902826" cy="0"/>
          </a:xfrm>
          <a:prstGeom prst="line">
            <a:avLst/>
          </a:prstGeom>
          <a:ln w="28575">
            <a:solidFill>
              <a:srgbClr val="2141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3D7E7BE-91F3-DCFB-B517-4A0AB8739DA1}"/>
              </a:ext>
            </a:extLst>
          </p:cNvPr>
          <p:cNvSpPr txBox="1"/>
          <p:nvPr/>
        </p:nvSpPr>
        <p:spPr>
          <a:xfrm>
            <a:off x="319140" y="6574807"/>
            <a:ext cx="2381198" cy="186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一、</a:t>
            </a:r>
            <a:r>
              <a:rPr lang="en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AI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工作流标准化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针对非专业人员难以独立完成线下参展的问题，将完整参展流程拆解为标准化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AI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工作流（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Skill</a:t>
            </a:r>
            <a:r>
              <a:rPr lang="zh-CN" altLang="e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），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覆盖展会定位、物料生产、获客与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CRM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承接全链路，零经验人员可按流程独立执行。</a:t>
            </a: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Microsoft YaHei Light" charset="-122"/>
              <a:sym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A6B16C-CCB0-BC85-9434-B614A4278E1D}"/>
              </a:ext>
            </a:extLst>
          </p:cNvPr>
          <p:cNvSpPr txBox="1"/>
          <p:nvPr/>
        </p:nvSpPr>
        <p:spPr>
          <a:xfrm>
            <a:off x="311519" y="8309823"/>
            <a:ext cx="2396507" cy="161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驱动营销内容生产降本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建立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“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ChatGPT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策划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+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即梦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/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ChatGPT Image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生成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”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的</a:t>
            </a:r>
            <a:r>
              <a:rPr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AI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内容生产工作流，实现海报、易拉宝、短视频等全套物料从策划到成品的闭环，无需外包设计，响应速度大幅提升。</a:t>
            </a: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Microsoft YaHei Light" charset="-122"/>
              <a:sym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5CFA432-7DA5-C86B-40F4-CC7642F6E9B0}"/>
              </a:ext>
            </a:extLst>
          </p:cNvPr>
          <p:cNvSpPr txBox="1"/>
          <p:nvPr/>
        </p:nvSpPr>
        <p:spPr>
          <a:xfrm>
            <a:off x="311519" y="9719061"/>
            <a:ext cx="2846740" cy="135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三、</a:t>
            </a:r>
            <a:r>
              <a:rPr lang="en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AI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机会识别框架驱动平台业务拓展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建立“企业痛点→AI适配度→落地路径”的AI机会识别方法论，通过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50+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企业调研，推动4类AI场景落地，并转化为平台的业务开发素材和标杆案例。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32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0C74-0429-BAEF-4E2A-F0B3C364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E755EEE-DB00-8382-8FFD-F14DFE07C2BE}"/>
              </a:ext>
            </a:extLst>
          </p:cNvPr>
          <p:cNvSpPr/>
          <p:nvPr/>
        </p:nvSpPr>
        <p:spPr>
          <a:xfrm>
            <a:off x="0" y="1873640"/>
            <a:ext cx="7559675" cy="88085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BAA3EF-D206-842A-4227-E105EAD5C498}"/>
              </a:ext>
            </a:extLst>
          </p:cNvPr>
          <p:cNvSpPr/>
          <p:nvPr/>
        </p:nvSpPr>
        <p:spPr>
          <a:xfrm>
            <a:off x="-1" y="-4454"/>
            <a:ext cx="7559675" cy="1878094"/>
          </a:xfrm>
          <a:prstGeom prst="rect">
            <a:avLst/>
          </a:prstGeom>
          <a:solidFill>
            <a:srgbClr val="214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AB9038-A822-FDFE-9A70-FEE9B4113813}"/>
              </a:ext>
            </a:extLst>
          </p:cNvPr>
          <p:cNvSpPr txBox="1"/>
          <p:nvPr/>
        </p:nvSpPr>
        <p:spPr>
          <a:xfrm>
            <a:off x="3400176" y="355342"/>
            <a:ext cx="2193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94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-122"/>
              </a:rPr>
              <a:t>李梅（</a:t>
            </a:r>
            <a:r>
              <a:rPr kumimoji="1" lang="en-US" altLang="zh-CN" sz="2000" b="1" dirty="0">
                <a:solidFill>
                  <a:srgbClr val="94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-122"/>
              </a:rPr>
              <a:t>93</a:t>
            </a:r>
            <a:r>
              <a:rPr kumimoji="1" lang="zh-CN" altLang="en-US" sz="2000" b="1" dirty="0">
                <a:solidFill>
                  <a:srgbClr val="94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-122"/>
              </a:rPr>
              <a:t>年）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5BE319-E01E-9F6A-5BA5-40EDA3B256CF}"/>
              </a:ext>
            </a:extLst>
          </p:cNvPr>
          <p:cNvSpPr txBox="1"/>
          <p:nvPr/>
        </p:nvSpPr>
        <p:spPr>
          <a:xfrm>
            <a:off x="3400175" y="868482"/>
            <a:ext cx="3442751" cy="61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华南理工大学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(985) 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Tel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：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159-1591-7840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（微信同）</a:t>
            </a:r>
            <a:endParaRPr kumimoji="1" lang="en-US" altLang="zh-CN" sz="1200" dirty="0">
              <a:solidFill>
                <a:schemeClr val="bg1"/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00CB22-4DBA-E20D-42B5-3BD0BD241BD2}"/>
              </a:ext>
            </a:extLst>
          </p:cNvPr>
          <p:cNvSpPr txBox="1"/>
          <p:nvPr/>
        </p:nvSpPr>
        <p:spPr>
          <a:xfrm>
            <a:off x="358690" y="2466400"/>
            <a:ext cx="2341563" cy="4181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en" altLang="zh-CN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B</a:t>
            </a:r>
            <a:r>
              <a:rPr kumimoji="1"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端全链路市场策略与操盘能力</a:t>
            </a:r>
            <a:endParaRPr kumimoji="1" lang="en-US" altLang="zh-CN" sz="11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主导新媒体矩阵获客半年带来线索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2000+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、营收超百万；主导产业数字化平台运营增长冷启动，沉淀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8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个</a:t>
            </a:r>
            <a:r>
              <a:rPr kumimoji="1"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AI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标杆案例，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50+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家高意向企业线索；</a:t>
            </a:r>
            <a:endParaRPr kumimoji="1"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洞察方法论跨岗位复用能力</a:t>
            </a:r>
            <a:endParaRPr kumimoji="1" lang="en-US" altLang="zh-CN" sz="11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将用户需求洞察转化为客户画像、内容策略与转化路径，驱动营销决策；并将洞察环节纳入团队标准工作流，赋能全员。</a:t>
            </a:r>
            <a:endParaRPr kumimoji="1"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团队搭建与人才赋能能力</a:t>
            </a:r>
            <a:endParaRPr kumimoji="1" lang="en-US" altLang="zh-CN" sz="11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0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到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1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搭建营销基础设施、团队</a:t>
            </a:r>
            <a:r>
              <a:rPr kumimoji="1" lang="en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SOP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，通过亲自指导将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2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名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5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年以下工作经验、</a:t>
            </a:r>
            <a:r>
              <a:rPr kumimoji="1"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1</a:t>
            </a:r>
            <a:r>
              <a:rPr kumimoji="1"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 charset="-122"/>
                <a:ea typeface="Microsoft YaHei Light" charset="-122"/>
              </a:rPr>
              <a:t>名无运营经验的成员，培养成可独立负责其所在工作模块的骨干。</a:t>
            </a:r>
            <a:r>
              <a:rPr lang="zh-CN" altLang="zh-C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能快速在新团队新环境中建立可落地的市场增长体系。</a:t>
            </a:r>
            <a:endParaRPr kumimoji="1"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 Light" charset="-122"/>
              <a:ea typeface="Microsoft YaHei Light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E6BC1A-D66C-39F3-7F77-E815659E01B6}"/>
              </a:ext>
            </a:extLst>
          </p:cNvPr>
          <p:cNvSpPr txBox="1"/>
          <p:nvPr/>
        </p:nvSpPr>
        <p:spPr>
          <a:xfrm>
            <a:off x="164354" y="8424224"/>
            <a:ext cx="2751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工具技能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企业微信SCRM </a:t>
            </a:r>
            <a:endParaRPr lang="en-US" altLang="zh-CN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·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Tableau</a:t>
            </a: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PMP认证</a:t>
            </a:r>
            <a:endParaRPr kumimoji="1" lang="zh-CN" altLang="en-US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7F3418F-CE50-3273-82B0-CD0CAE5C82F4}"/>
              </a:ext>
            </a:extLst>
          </p:cNvPr>
          <p:cNvSpPr txBox="1"/>
          <p:nvPr/>
        </p:nvSpPr>
        <p:spPr>
          <a:xfrm>
            <a:off x="2583611" y="5155085"/>
            <a:ext cx="5167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FCDEA83-B569-488C-A4C5-32B99612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160"/>
          <a:stretch>
            <a:fillRect/>
          </a:stretch>
        </p:blipFill>
        <p:spPr>
          <a:xfrm>
            <a:off x="480676" y="-71977"/>
            <a:ext cx="2193886" cy="194979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D68F2AE5-FB54-BFF7-FB16-157C743F7CC8}"/>
              </a:ext>
            </a:extLst>
          </p:cNvPr>
          <p:cNvGrpSpPr/>
          <p:nvPr/>
        </p:nvGrpSpPr>
        <p:grpSpPr>
          <a:xfrm>
            <a:off x="358775" y="2360381"/>
            <a:ext cx="2341562" cy="0"/>
            <a:chOff x="358775" y="3007149"/>
            <a:chExt cx="2341562" cy="0"/>
          </a:xfrm>
        </p:grpSpPr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30F482DC-DA1C-71E6-6F58-0EF132BE1F00}"/>
                </a:ext>
              </a:extLst>
            </p:cNvPr>
            <p:cNvCxnSpPr>
              <a:cxnSpLocks/>
            </p:cNvCxnSpPr>
            <p:nvPr/>
          </p:nvCxnSpPr>
          <p:spPr>
            <a:xfrm>
              <a:off x="358775" y="3007149"/>
              <a:ext cx="234156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EA9BE6CA-907E-D600-1C48-6D994033B48C}"/>
                </a:ext>
              </a:extLst>
            </p:cNvPr>
            <p:cNvCxnSpPr/>
            <p:nvPr/>
          </p:nvCxnSpPr>
          <p:spPr>
            <a:xfrm>
              <a:off x="358775" y="3007149"/>
              <a:ext cx="902826" cy="0"/>
            </a:xfrm>
            <a:prstGeom prst="line">
              <a:avLst/>
            </a:prstGeom>
            <a:ln w="28575">
              <a:solidFill>
                <a:srgbClr val="328E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791AFB-CB4C-F3C4-BD03-A94E09AD7217}"/>
              </a:ext>
            </a:extLst>
          </p:cNvPr>
          <p:cNvSpPr txBox="1"/>
          <p:nvPr/>
        </p:nvSpPr>
        <p:spPr>
          <a:xfrm>
            <a:off x="358690" y="19786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个人优势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717705-5098-A8F9-BFF7-4A630FDAAC50}"/>
              </a:ext>
            </a:extLst>
          </p:cNvPr>
          <p:cNvGrpSpPr/>
          <p:nvPr/>
        </p:nvGrpSpPr>
        <p:grpSpPr>
          <a:xfrm>
            <a:off x="3165880" y="7901761"/>
            <a:ext cx="4039095" cy="910590"/>
            <a:chOff x="4840" y="4401"/>
            <a:chExt cx="6361" cy="1434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B645E42-3F29-9FBB-4453-3E659DE7F03C}"/>
                </a:ext>
              </a:extLst>
            </p:cNvPr>
            <p:cNvSpPr txBox="1"/>
            <p:nvPr/>
          </p:nvSpPr>
          <p:spPr>
            <a:xfrm>
              <a:off x="4840" y="4401"/>
              <a:ext cx="636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- 2021.6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华为（云计算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BG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）｜用户研究专家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C02D47D-1CB9-5EA7-745E-6D665E4C3DD0}"/>
                </a:ext>
              </a:extLst>
            </p:cNvPr>
            <p:cNvSpPr txBox="1"/>
            <p:nvPr/>
          </p:nvSpPr>
          <p:spPr>
            <a:xfrm>
              <a:off x="4884" y="4746"/>
              <a:ext cx="6316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云服务体验指标体系、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用户场景库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搭建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持续向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设计、运营、数据团队赋能用研方法论。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荣誉：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“体验之星”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C4EAFE9-C658-A764-1B00-478EB88CE7AB}"/>
              </a:ext>
            </a:extLst>
          </p:cNvPr>
          <p:cNvGrpSpPr/>
          <p:nvPr/>
        </p:nvGrpSpPr>
        <p:grpSpPr>
          <a:xfrm>
            <a:off x="3151910" y="8805863"/>
            <a:ext cx="4449403" cy="917575"/>
            <a:chOff x="4854" y="8173"/>
            <a:chExt cx="7007" cy="1445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3245DA5-BD01-9702-47D9-D8756E90A173}"/>
                </a:ext>
              </a:extLst>
            </p:cNvPr>
            <p:cNvSpPr txBox="1"/>
            <p:nvPr/>
          </p:nvSpPr>
          <p:spPr>
            <a:xfrm>
              <a:off x="4854" y="8173"/>
              <a:ext cx="7007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2019.4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Honeywell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UX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Researcher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｜世界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500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强美企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577DE86-7604-F7C6-3FE9-88F3BB6DCB4A}"/>
                </a:ext>
              </a:extLst>
            </p:cNvPr>
            <p:cNvSpPr txBox="1"/>
            <p:nvPr/>
          </p:nvSpPr>
          <p:spPr>
            <a:xfrm>
              <a:off x="4878" y="8529"/>
              <a:ext cx="6358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呼吸防护、扫码、防护服等产品全生命周期研究；面罩创新研究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项目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6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个概念产出，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个纳入研发计划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飞织口罩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创新研究项目中产品概念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iF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60C6CF-FF11-74AA-3770-1039FA364246}"/>
              </a:ext>
            </a:extLst>
          </p:cNvPr>
          <p:cNvGrpSpPr/>
          <p:nvPr/>
        </p:nvGrpSpPr>
        <p:grpSpPr>
          <a:xfrm>
            <a:off x="3134129" y="9732930"/>
            <a:ext cx="4070350" cy="1132205"/>
            <a:chOff x="4739" y="12099"/>
            <a:chExt cx="6410" cy="1783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9968886-FCA8-1AD5-BB6A-28176E422BEA}"/>
                </a:ext>
              </a:extLst>
            </p:cNvPr>
            <p:cNvSpPr txBox="1"/>
            <p:nvPr/>
          </p:nvSpPr>
          <p:spPr>
            <a:xfrm>
              <a:off x="4833" y="12099"/>
              <a:ext cx="6316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2016.10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2019.3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ISAR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界面设计｜用户研究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｜国内首家用户体验专业咨询公司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C25812D-5506-268C-7D5B-6993DAC38051}"/>
                </a:ext>
              </a:extLst>
            </p:cNvPr>
            <p:cNvSpPr txBox="1"/>
            <p:nvPr/>
          </p:nvSpPr>
          <p:spPr>
            <a:xfrm>
              <a:off x="4739" y="12793"/>
              <a:ext cx="6410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负责研究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方案设计、投标竞标、执行交付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、报告汇报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等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完整项目管理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流程；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海尔智能冰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箱研究结论落地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产品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2019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年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上市并参展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AWE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F53297E-E95E-AD11-D8D6-670F0010845C}"/>
              </a:ext>
            </a:extLst>
          </p:cNvPr>
          <p:cNvGrpSpPr/>
          <p:nvPr/>
        </p:nvGrpSpPr>
        <p:grpSpPr>
          <a:xfrm>
            <a:off x="3151909" y="5613250"/>
            <a:ext cx="4143865" cy="2142223"/>
            <a:chOff x="4747" y="4134"/>
            <a:chExt cx="6526" cy="3374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037BCAF-D4DC-3FA6-BF56-102812CEBC1D}"/>
                </a:ext>
              </a:extLst>
            </p:cNvPr>
            <p:cNvSpPr txBox="1"/>
            <p:nvPr/>
          </p:nvSpPr>
          <p:spPr>
            <a:xfrm>
              <a:off x="4813" y="4134"/>
              <a:ext cx="6460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2021.7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2024.12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联易融数科｜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用户研究专家→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数字营销负责人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微软雅黑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国内首家供应链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FinTech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上市企业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585425C-BF05-AA19-61B3-C8DE9AA99D24}"/>
                </a:ext>
              </a:extLst>
            </p:cNvPr>
            <p:cNvSpPr txBox="1"/>
            <p:nvPr/>
          </p:nvSpPr>
          <p:spPr>
            <a:xfrm>
              <a:off x="4747" y="4804"/>
              <a:ext cx="6410" cy="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2021/7 - 2022/8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：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sym typeface="+mn-ea"/>
                </a:rPr>
                <a:t>作为用研专家，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到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1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搭建客户体验管理平台，落地产品体验与行为指标监控、按灯机制。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2022/8 -2024/12</a:t>
              </a:r>
              <a:r>
                <a:rPr kumimoji="1" lang="zh-CN" altLang="en-US" sz="1100" b="1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：小微企业业务线数字营销负责人</a:t>
              </a:r>
              <a:endParaRPr kumimoji="1" lang="en-US" altLang="zh-CN" sz="1100" b="1" dirty="0">
                <a:solidFill>
                  <a:srgbClr val="154563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中国电子票据平台项目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营销工作，平台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累计沉淀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价值客户，融资规模超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3.5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亿元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获集团年度创新项目奖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</a:p>
            <a:p>
              <a:pPr marL="171450" indent="-171450" algn="just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统筹电商供应链金融业务线营销工作，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新媒体半年累计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2000+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线索，带来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超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百万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业务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｜荣誉：集团星级讲师 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· </a:t>
              </a: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新员工正式导师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AA702D4-FE8A-67B2-0958-5C3B05760B4A}"/>
              </a:ext>
            </a:extLst>
          </p:cNvPr>
          <p:cNvGrpSpPr/>
          <p:nvPr/>
        </p:nvGrpSpPr>
        <p:grpSpPr>
          <a:xfrm>
            <a:off x="3203575" y="2396457"/>
            <a:ext cx="6558219" cy="3200400"/>
            <a:chOff x="4750" y="7702"/>
            <a:chExt cx="10328" cy="5040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17601FB-A163-A5F7-8121-9E2A7639C364}"/>
                </a:ext>
              </a:extLst>
            </p:cNvPr>
            <p:cNvSpPr txBox="1"/>
            <p:nvPr/>
          </p:nvSpPr>
          <p:spPr>
            <a:xfrm>
              <a:off x="4854" y="7702"/>
              <a:ext cx="10224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2025.2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2026.3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广州之云科技｜品牌与增长部门负责人</a:t>
              </a:r>
              <a:endParaRPr kumimoji="1" lang="en-US" altLang="zh-CN" sz="1100" dirty="0">
                <a:solidFill>
                  <a:srgbClr val="154563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｜广州花都区数字化转型平台总运营单位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A37FAAE-40CA-F245-F1EA-4A5DF759F8EE}"/>
                </a:ext>
              </a:extLst>
            </p:cNvPr>
            <p:cNvSpPr txBox="1"/>
            <p:nvPr/>
          </p:nvSpPr>
          <p:spPr>
            <a:xfrm>
              <a:off x="4750" y="8422"/>
              <a:ext cx="6301" cy="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制定增长年度规划、SOP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，搭建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基础设施，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带领团队从零建立运营能力，全年沉淀私域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企业2000+、企业人次8000+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2000㎡线下展厅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内容与运营规划，半年接待100+场政企参观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5+地区政府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运营模式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感兴趣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其中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区政府深入对接后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明确提出由我方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承接代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运营，推进至方案阶段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线下宣讲与活动获客，全年向销售输送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意向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及预算基础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的企业线索50+家；通过跨部门协同，展会单日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近1000条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留资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 algn="just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深入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调研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企业50+家，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洞察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并推动AI赋能场景（AI调香、AI辅助设计、AI零件识别等），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将调研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结果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沉淀为洞察库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活动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提供依据。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algn="just"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｜荣誉：年度绩效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81F68A0-5330-024C-233C-3CBBDDABDF12}"/>
              </a:ext>
            </a:extLst>
          </p:cNvPr>
          <p:cNvGrpSpPr/>
          <p:nvPr/>
        </p:nvGrpSpPr>
        <p:grpSpPr>
          <a:xfrm>
            <a:off x="3203575" y="2330840"/>
            <a:ext cx="4000765" cy="0"/>
            <a:chOff x="358775" y="3007149"/>
            <a:chExt cx="4000765" cy="0"/>
          </a:xfrm>
        </p:grpSpPr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6F90012A-2AC3-677D-3B70-C2D99EA8CF83}"/>
                </a:ext>
              </a:extLst>
            </p:cNvPr>
            <p:cNvCxnSpPr>
              <a:cxnSpLocks/>
            </p:cNvCxnSpPr>
            <p:nvPr/>
          </p:nvCxnSpPr>
          <p:spPr>
            <a:xfrm>
              <a:off x="358775" y="3007149"/>
              <a:ext cx="4000765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1CC86DA7-C741-AD96-4909-E50603650400}"/>
                </a:ext>
              </a:extLst>
            </p:cNvPr>
            <p:cNvCxnSpPr/>
            <p:nvPr/>
          </p:nvCxnSpPr>
          <p:spPr>
            <a:xfrm>
              <a:off x="358775" y="3007149"/>
              <a:ext cx="902826" cy="0"/>
            </a:xfrm>
            <a:prstGeom prst="line">
              <a:avLst/>
            </a:prstGeom>
            <a:ln w="28575">
              <a:solidFill>
                <a:srgbClr val="328E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9EEB1087-1635-527F-7E1D-565AA1A9C03A}"/>
              </a:ext>
            </a:extLst>
          </p:cNvPr>
          <p:cNvSpPr txBox="1"/>
          <p:nvPr/>
        </p:nvSpPr>
        <p:spPr>
          <a:xfrm>
            <a:off x="3203490" y="194915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工作经历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FD6EF5D-BCD0-ACD0-490D-2B7ECA898BC2}"/>
              </a:ext>
            </a:extLst>
          </p:cNvPr>
          <p:cNvGrpSpPr/>
          <p:nvPr/>
        </p:nvGrpSpPr>
        <p:grpSpPr>
          <a:xfrm>
            <a:off x="358775" y="7281629"/>
            <a:ext cx="2341562" cy="0"/>
            <a:chOff x="358775" y="3007149"/>
            <a:chExt cx="2341562" cy="0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9BE5B506-853E-26C3-1B8F-3420AEACA540}"/>
                </a:ext>
              </a:extLst>
            </p:cNvPr>
            <p:cNvCxnSpPr>
              <a:cxnSpLocks/>
            </p:cNvCxnSpPr>
            <p:nvPr/>
          </p:nvCxnSpPr>
          <p:spPr>
            <a:xfrm>
              <a:off x="358775" y="3007149"/>
              <a:ext cx="234156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378D1939-318C-3854-7EAF-8A91AB36598D}"/>
                </a:ext>
              </a:extLst>
            </p:cNvPr>
            <p:cNvCxnSpPr/>
            <p:nvPr/>
          </p:nvCxnSpPr>
          <p:spPr>
            <a:xfrm>
              <a:off x="358775" y="3007149"/>
              <a:ext cx="902826" cy="0"/>
            </a:xfrm>
            <a:prstGeom prst="line">
              <a:avLst/>
            </a:prstGeom>
            <a:ln w="28575">
              <a:solidFill>
                <a:srgbClr val="328E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8349146-61E8-8982-41F7-7BF640173D37}"/>
              </a:ext>
            </a:extLst>
          </p:cNvPr>
          <p:cNvSpPr txBox="1"/>
          <p:nvPr/>
        </p:nvSpPr>
        <p:spPr>
          <a:xfrm>
            <a:off x="358690" y="689994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个人优势</a:t>
            </a:r>
          </a:p>
        </p:txBody>
      </p:sp>
    </p:spTree>
    <p:extLst>
      <p:ext uri="{BB962C8B-B14F-4D97-AF65-F5344CB8AC3E}">
        <p14:creationId xmlns:p14="http://schemas.microsoft.com/office/powerpoint/2010/main" val="355968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59A7-8954-87CD-FF46-A572DA7A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AF21C5-D680-6079-7354-DA059B6C475E}"/>
              </a:ext>
            </a:extLst>
          </p:cNvPr>
          <p:cNvSpPr/>
          <p:nvPr/>
        </p:nvSpPr>
        <p:spPr>
          <a:xfrm>
            <a:off x="0" y="1"/>
            <a:ext cx="3080656" cy="10691812"/>
          </a:xfrm>
          <a:prstGeom prst="rect">
            <a:avLst/>
          </a:prstGeom>
          <a:solidFill>
            <a:srgbClr val="394B5C"/>
          </a:solidFill>
          <a:ln>
            <a:solidFill>
              <a:srgbClr val="1545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232C0B-055E-66D1-2C98-8ACF39480C60}"/>
              </a:ext>
            </a:extLst>
          </p:cNvPr>
          <p:cNvSpPr txBox="1"/>
          <p:nvPr/>
        </p:nvSpPr>
        <p:spPr>
          <a:xfrm>
            <a:off x="854740" y="2571044"/>
            <a:ext cx="148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李梅（</a:t>
            </a:r>
            <a:r>
              <a:rPr kumimoji="1" lang="en-US" altLang="zh-CN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93</a:t>
            </a:r>
            <a:r>
              <a:rPr kumimoji="1"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年）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793656-E885-FEAB-5E27-7D1DF1EC570D}"/>
              </a:ext>
            </a:extLst>
          </p:cNvPr>
          <p:cNvSpPr txBox="1"/>
          <p:nvPr/>
        </p:nvSpPr>
        <p:spPr>
          <a:xfrm>
            <a:off x="394328" y="2905289"/>
            <a:ext cx="2403041" cy="61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200" dirty="0">
                <a:solidFill>
                  <a:prstClr val="white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华南理工大学</a:t>
            </a:r>
            <a:r>
              <a:rPr kumimoji="1" lang="en-US" altLang="zh-CN" sz="1200" dirty="0">
                <a:solidFill>
                  <a:prstClr val="white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(985)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Tel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：</a:t>
            </a:r>
            <a:r>
              <a:rPr kumimoji="1" lang="en-US" altLang="zh-CN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159-1591-7840</a:t>
            </a:r>
            <a:r>
              <a:rPr kumimoji="1" lang="zh-CN" altLang="en-US" sz="12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rPr>
              <a:t>（微信同）</a:t>
            </a:r>
            <a:endParaRPr kumimoji="1" lang="en-US" altLang="zh-CN" sz="1200" dirty="0">
              <a:solidFill>
                <a:schemeClr val="bg1"/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AEFE6A-C4A0-4C52-0DBC-BA654114EBEB}"/>
              </a:ext>
            </a:extLst>
          </p:cNvPr>
          <p:cNvSpPr txBox="1"/>
          <p:nvPr/>
        </p:nvSpPr>
        <p:spPr>
          <a:xfrm>
            <a:off x="3134912" y="288951"/>
            <a:ext cx="438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核心竞争力：用户洞察 </a:t>
            </a:r>
            <a:r>
              <a:rPr kumimoji="1" lang="en-US" altLang="zh-CN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× </a:t>
            </a:r>
            <a:r>
              <a:rPr kumimoji="1" lang="zh-CN" altLang="en-US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营销获客 </a:t>
            </a:r>
            <a:r>
              <a:rPr kumimoji="1" lang="en-US" altLang="zh-CN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× </a:t>
            </a:r>
            <a:r>
              <a:rPr kumimoji="1" lang="en" altLang="zh-CN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AI</a:t>
            </a:r>
            <a:r>
              <a:rPr kumimoji="1" lang="zh-CN" altLang="en-US" sz="1400" dirty="0">
                <a:solidFill>
                  <a:srgbClr val="154563"/>
                </a:solidFill>
                <a:latin typeface="微软雅黑" charset="-122"/>
                <a:ea typeface="微软雅黑" charset="-122"/>
              </a:rPr>
              <a:t>场景洞察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65B0F0-738B-CA58-F23C-AF4FED9934F9}"/>
              </a:ext>
            </a:extLst>
          </p:cNvPr>
          <p:cNvSpPr txBox="1"/>
          <p:nvPr/>
        </p:nvSpPr>
        <p:spPr>
          <a:xfrm>
            <a:off x="3141884" y="658200"/>
            <a:ext cx="4238404" cy="233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en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B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端全链路市场策略与操盘能力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主导新媒体矩阵获客半年带来线索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2000+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、营收超百万；主导产业数字化平台运营增长冷启动：沉淀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8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个</a:t>
            </a:r>
            <a:r>
              <a:rPr kumimoji="1" lang="en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AI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标杆案例，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50+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家高意向企业线索；</a:t>
            </a:r>
          </a:p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洞察方法论跨岗位复用能力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将用户需求洞察转化为客户画像、内容策略与转化路径，驱动营销决策；并将洞察环节纳入团队标准工作流，赋能全员。</a:t>
            </a:r>
          </a:p>
          <a:p>
            <a:pPr marL="228600" indent="-228600" algn="just">
              <a:lnSpc>
                <a:spcPts val="1600"/>
              </a:lnSpc>
              <a:buFontTx/>
              <a:buAutoNum type="arabicPeriod"/>
            </a:pP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团队搭建与人才赋能能力</a:t>
            </a:r>
            <a:endParaRPr kumimoji="1"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0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到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1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搭建营销基础设施、团队</a:t>
            </a:r>
            <a:r>
              <a:rPr kumimoji="1" lang="en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SOP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，通过亲自指导将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2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名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5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年以下工作经验、</a:t>
            </a:r>
            <a:r>
              <a: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1</a:t>
            </a:r>
            <a:r>
              <a: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rPr>
              <a:t>名无运营经验的成员，培养成可独立负责其所在工作模块的骨干。</a:t>
            </a:r>
            <a:r>
              <a:rPr lang="zh-CN" altLang="zh-CN" sz="1100" dirty="0"/>
              <a:t>能快速在新团队新环境中建立可落地的市场增长体系。</a:t>
            </a:r>
            <a:endParaRPr kumimoji="1" lang="zh-CN" alt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crosoft YaHei Light" charset="-122"/>
              <a:ea typeface="Microsoft YaHei Light" charset="-122"/>
            </a:endParaRPr>
          </a:p>
        </p:txBody>
      </p:sp>
      <p:pic>
        <p:nvPicPr>
          <p:cNvPr id="10" name="图片 9" descr="5月1日工作30943x">
            <a:extLst>
              <a:ext uri="{FF2B5EF4-FFF2-40B4-BE49-F238E27FC236}">
                <a16:creationId xmlns:a16="http://schemas.microsoft.com/office/drawing/2014/main" id="{8A05323E-7EB8-2116-360E-9828DED3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68" b="7514"/>
          <a:stretch>
            <a:fillRect/>
          </a:stretch>
        </p:blipFill>
        <p:spPr>
          <a:xfrm>
            <a:off x="600379" y="304800"/>
            <a:ext cx="1972699" cy="224308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B466A946-FB73-FDD3-7DE2-E583BAB320C9}"/>
              </a:ext>
            </a:extLst>
          </p:cNvPr>
          <p:cNvGrpSpPr/>
          <p:nvPr/>
        </p:nvGrpSpPr>
        <p:grpSpPr>
          <a:xfrm>
            <a:off x="139121" y="3733668"/>
            <a:ext cx="2846741" cy="4513778"/>
            <a:chOff x="3025973" y="2435876"/>
            <a:chExt cx="2846741" cy="451377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AA6DADD-50B7-6A2F-D5CA-18B0D1798BC2}"/>
                </a:ext>
              </a:extLst>
            </p:cNvPr>
            <p:cNvGrpSpPr/>
            <p:nvPr/>
          </p:nvGrpSpPr>
          <p:grpSpPr>
            <a:xfrm>
              <a:off x="3025974" y="2435876"/>
              <a:ext cx="2846740" cy="1999078"/>
              <a:chOff x="-6169" y="4686430"/>
              <a:chExt cx="2846740" cy="199907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B873A1C-98C7-EC35-79FC-8283A44430EF}"/>
                  </a:ext>
                </a:extLst>
              </p:cNvPr>
              <p:cNvSpPr txBox="1"/>
              <p:nvPr/>
            </p:nvSpPr>
            <p:spPr>
              <a:xfrm>
                <a:off x="118146" y="4686430"/>
                <a:ext cx="2627630" cy="423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b="1" u="sng" dirty="0">
                    <a:solidFill>
                      <a:schemeClr val="bg1"/>
                    </a:solidFill>
                  </a:rPr>
                  <a:t>AI</a:t>
                </a:r>
                <a:r>
                  <a:rPr lang="zh-CN" altLang="en-US" sz="1600" b="1" u="sng" dirty="0">
                    <a:solidFill>
                      <a:schemeClr val="bg1"/>
                    </a:solidFill>
                  </a:rPr>
                  <a:t>业务应用与工作流能力</a:t>
                </a:r>
                <a:endParaRPr kumimoji="1" lang="zh-CN" altLang="en-US" sz="1600" b="1" u="sng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21DC030-29E1-ABE3-D03B-0D15CF1E1FC5}"/>
                  </a:ext>
                </a:extLst>
              </p:cNvPr>
              <p:cNvSpPr txBox="1"/>
              <p:nvPr/>
            </p:nvSpPr>
            <p:spPr>
              <a:xfrm>
                <a:off x="-6169" y="5075452"/>
                <a:ext cx="2846740" cy="1610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一、</a:t>
                </a:r>
                <a:r>
                  <a:rPr lang="en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AI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工作流标准化</a:t>
                </a:r>
                <a:endParaRPr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针对非专业人员难以独立完成线下参展的问题，将完整参展流程拆解为标准化</a:t>
                </a:r>
                <a:r>
                  <a:rPr lang="en" altLang="zh-CN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AI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工作流（</a:t>
                </a:r>
                <a:r>
                  <a:rPr lang="en" altLang="zh-CN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Skill</a:t>
                </a:r>
                <a:r>
                  <a:rPr lang="zh-CN" altLang="en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），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覆盖展会定位、物料生产、获客与</a:t>
                </a:r>
                <a:r>
                  <a:rPr lang="en" altLang="zh-CN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CRM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承接全链路，零经验人员可按流程独立执行。</a:t>
                </a:r>
                <a:endParaRPr kumimoji="1"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Microsoft YaHei Light" charset="-122"/>
                  <a:sym typeface="+mn-ea"/>
                </a:endParaRP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6687998-8FEB-950E-F98D-2874E7AA966E}"/>
                </a:ext>
              </a:extLst>
            </p:cNvPr>
            <p:cNvSpPr txBox="1"/>
            <p:nvPr/>
          </p:nvSpPr>
          <p:spPr>
            <a:xfrm>
              <a:off x="3025973" y="4342000"/>
              <a:ext cx="2846740" cy="1358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二、</a:t>
              </a:r>
              <a:r>
                <a:rPr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驱动营销内容生产降本提速</a:t>
              </a:r>
              <a:endParaRPr lang="en-US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建立</a:t>
              </a:r>
              <a:r>
                <a:rPr lang="en-US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“</a:t>
              </a:r>
              <a:r>
                <a:rPr lang="en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ChatGPT</a:t>
              </a: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策划</a:t>
              </a:r>
              <a:r>
                <a:rPr lang="en-US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+</a:t>
              </a: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即梦</a:t>
              </a:r>
              <a:r>
                <a:rPr lang="en-US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/</a:t>
              </a:r>
              <a:r>
                <a:rPr lang="en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ChatGPT Image</a:t>
              </a: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生成</a:t>
              </a:r>
              <a:r>
                <a:rPr lang="en-US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”</a:t>
              </a: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的</a:t>
              </a:r>
              <a:r>
                <a:rPr lang="en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AI</a:t>
              </a:r>
              <a:r>
                <a:rPr lang="zh-CN" altLang="en-US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内容生产工作流，实现海报、易拉宝、短视频等全套物料从策划到成品的闭环，无需外包设计，响应速度大幅提升。</a:t>
              </a:r>
              <a:endParaRPr kumimoji="1" lang="zh-CN" altLang="en-US" sz="11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Microsoft YaHei Light" charset="-122"/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63915DD-B202-17EF-ADFF-52A558A9095F}"/>
                </a:ext>
              </a:extLst>
            </p:cNvPr>
            <p:cNvSpPr txBox="1"/>
            <p:nvPr/>
          </p:nvSpPr>
          <p:spPr>
            <a:xfrm>
              <a:off x="3025973" y="5593514"/>
              <a:ext cx="2846740" cy="1356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三、</a:t>
              </a:r>
              <a:r>
                <a:rPr lang="en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AI</a:t>
              </a:r>
              <a:r>
                <a:rPr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机会识别框架驱动平台业务拓展</a:t>
              </a:r>
              <a:endParaRPr lang="en-US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建立“企业痛点→AI适配度→落地路径”的AI机会识别方法论，通过</a:t>
              </a:r>
              <a:r>
                <a:rPr lang="en-US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50+</a:t>
              </a:r>
              <a:r>
                <a:rPr lang="zh-CN" altLang="zh-CN" sz="1100" dirty="0">
                  <a:solidFill>
                    <a:schemeClr val="bg1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企业调研，推动4类AI场景落地，并转化为平台的业务开发素材和标杆案例。</a:t>
              </a:r>
              <a:endParaRPr lang="zh-CN" altLang="en-US" sz="11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7B32A1A-D044-73CA-667C-AB4E26487F06}"/>
              </a:ext>
            </a:extLst>
          </p:cNvPr>
          <p:cNvSpPr txBox="1"/>
          <p:nvPr/>
        </p:nvSpPr>
        <p:spPr>
          <a:xfrm>
            <a:off x="164354" y="8424224"/>
            <a:ext cx="2751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工具技能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企业微信SCRM </a:t>
            </a:r>
            <a:endParaRPr lang="en-US" altLang="zh-CN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·</a:t>
            </a:r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Tableau</a:t>
            </a:r>
          </a:p>
          <a:p>
            <a:r>
              <a:rPr lang="zh-CN" altLang="zh-CN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PMP认证</a:t>
            </a:r>
            <a:endParaRPr kumimoji="1" lang="zh-CN" altLang="en-US" sz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F0E827-4E7E-5EAB-4365-A1FCE319A26D}"/>
              </a:ext>
            </a:extLst>
          </p:cNvPr>
          <p:cNvGrpSpPr/>
          <p:nvPr/>
        </p:nvGrpSpPr>
        <p:grpSpPr>
          <a:xfrm>
            <a:off x="3165880" y="7901761"/>
            <a:ext cx="4214349" cy="910590"/>
            <a:chOff x="4840" y="4401"/>
            <a:chExt cx="6637" cy="143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432C085-30AD-4A58-CE59-263769BB2A82}"/>
                </a:ext>
              </a:extLst>
            </p:cNvPr>
            <p:cNvSpPr txBox="1"/>
            <p:nvPr/>
          </p:nvSpPr>
          <p:spPr>
            <a:xfrm>
              <a:off x="4840" y="4401"/>
              <a:ext cx="636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- 2021.6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华为（云计算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BG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）｜用户研究专家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D685820-FF7C-A76C-389E-18BA4EBF9106}"/>
                </a:ext>
              </a:extLst>
            </p:cNvPr>
            <p:cNvSpPr txBox="1"/>
            <p:nvPr/>
          </p:nvSpPr>
          <p:spPr>
            <a:xfrm>
              <a:off x="4884" y="4746"/>
              <a:ext cx="6593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云服务体验指标体系、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用户场景库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搭建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持续向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设计、运营、数据团队赋能用研方法论。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荣誉：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“体验之星”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5E6F226-5931-A5E7-D632-9383D47D741A}"/>
              </a:ext>
            </a:extLst>
          </p:cNvPr>
          <p:cNvGrpSpPr/>
          <p:nvPr/>
        </p:nvGrpSpPr>
        <p:grpSpPr>
          <a:xfrm>
            <a:off x="3151910" y="8805863"/>
            <a:ext cx="4449403" cy="917575"/>
            <a:chOff x="4854" y="8173"/>
            <a:chExt cx="7007" cy="144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B6C5029-9DAD-88DF-E72B-347D4953A5C1}"/>
                </a:ext>
              </a:extLst>
            </p:cNvPr>
            <p:cNvSpPr txBox="1"/>
            <p:nvPr/>
          </p:nvSpPr>
          <p:spPr>
            <a:xfrm>
              <a:off x="4854" y="8173"/>
              <a:ext cx="7007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2019.4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2020.5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Honeywell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UX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Researcher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｜世界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500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强美企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6A5F90B-1D98-733C-96A5-1BE7443F5644}"/>
                </a:ext>
              </a:extLst>
            </p:cNvPr>
            <p:cNvSpPr txBox="1"/>
            <p:nvPr/>
          </p:nvSpPr>
          <p:spPr>
            <a:xfrm>
              <a:off x="4878" y="8529"/>
              <a:ext cx="6635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呼吸防护、扫码、防护服等产品全生命周期研究；面罩创新研究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项目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6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个概念产出，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个纳入研发计划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飞织口罩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创新研究项目中产品概念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iF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10C0B5D-D9E2-8B56-D9B9-AAB63490FA0A}"/>
              </a:ext>
            </a:extLst>
          </p:cNvPr>
          <p:cNvGrpSpPr/>
          <p:nvPr/>
        </p:nvGrpSpPr>
        <p:grpSpPr>
          <a:xfrm>
            <a:off x="3151909" y="9732930"/>
            <a:ext cx="6848475" cy="929640"/>
            <a:chOff x="4767" y="12099"/>
            <a:chExt cx="10785" cy="1464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75026F6-999E-2C52-0AC8-7EDBFFABFC3C}"/>
                </a:ext>
              </a:extLst>
            </p:cNvPr>
            <p:cNvSpPr txBox="1"/>
            <p:nvPr/>
          </p:nvSpPr>
          <p:spPr>
            <a:xfrm>
              <a:off x="4833" y="12099"/>
              <a:ext cx="10719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2016.10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2019.3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ISAR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界面设计｜用户研究｜国内首家用户体验专业咨询公司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89A29BD-D4DA-0F98-7F72-2FE287D036E0}"/>
                </a:ext>
              </a:extLst>
            </p:cNvPr>
            <p:cNvSpPr txBox="1"/>
            <p:nvPr/>
          </p:nvSpPr>
          <p:spPr>
            <a:xfrm>
              <a:off x="4767" y="12474"/>
              <a:ext cx="6659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负责研究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方案设计、投标竞标、执行交付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、报告汇报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等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完整项目管理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流程；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海尔智能冰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箱研究结论落地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产品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2019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年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上市并参展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AWE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5B797AB-EF60-3714-4D96-18D0F0A743FC}"/>
              </a:ext>
            </a:extLst>
          </p:cNvPr>
          <p:cNvGrpSpPr/>
          <p:nvPr/>
        </p:nvGrpSpPr>
        <p:grpSpPr>
          <a:xfrm>
            <a:off x="3134308" y="6001864"/>
            <a:ext cx="7187314" cy="1985398"/>
            <a:chOff x="4747" y="4134"/>
            <a:chExt cx="11319" cy="3127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B493386-39A6-30A5-CB1F-71D62AC072B7}"/>
                </a:ext>
              </a:extLst>
            </p:cNvPr>
            <p:cNvSpPr txBox="1"/>
            <p:nvPr/>
          </p:nvSpPr>
          <p:spPr>
            <a:xfrm>
              <a:off x="4813" y="4134"/>
              <a:ext cx="11253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2021.7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-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2024.12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联易融数科｜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用户研究专家→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数字营销负责人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微软雅黑" charset="-122"/>
                  <a:sym typeface="+mn-ea"/>
                </a:rPr>
                <a:t>｜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国内首家供应链</a:t>
              </a:r>
              <a:r>
                <a:rPr kumimoji="1" lang="en-US" altLang="zh-CN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FinTech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上市企业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2F7654F-B4DB-CB33-A300-EDF550779513}"/>
                </a:ext>
              </a:extLst>
            </p:cNvPr>
            <p:cNvSpPr txBox="1"/>
            <p:nvPr/>
          </p:nvSpPr>
          <p:spPr>
            <a:xfrm>
              <a:off x="4747" y="4557"/>
              <a:ext cx="6637" cy="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2021/7 - 2022/8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：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sym typeface="+mn-ea"/>
                </a:rPr>
                <a:t>作为用研专家，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从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0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到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1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搭建客户体验管理平台，落地产品体验与行为指标监控、按灯机制。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2022/8 -2024/12</a:t>
              </a:r>
              <a:r>
                <a:rPr kumimoji="1" lang="zh-CN" altLang="en-US" sz="1100" b="1" dirty="0">
                  <a:solidFill>
                    <a:srgbClr val="154563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：小微企业业务线数字营销负责人</a:t>
              </a:r>
              <a:endParaRPr kumimoji="1" lang="en-US" altLang="zh-CN" sz="1100" b="1" dirty="0">
                <a:solidFill>
                  <a:srgbClr val="154563"/>
                </a:solidFill>
                <a:latin typeface="Microsoft YaHei Light" charset="-122"/>
                <a:ea typeface="Microsoft YaHei Light" charset="-122"/>
                <a:cs typeface="Microsoft YaHei Light" charset="-122"/>
                <a:sym typeface="+mn-ea"/>
              </a:endParaRP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中国电子票据平台项目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营销工作，平台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累计沉淀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价值客户，融资规模超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3.5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亿元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获集团年度创新项目奖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统筹电商供应链金融业务线营销工作，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新媒体半年累计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获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2000+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线索，带来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超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百万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业务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营收。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｜荣誉：集团星级讲师 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· </a:t>
              </a: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ea"/>
                </a:rPr>
                <a:t>新员工正式导师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6884AEC-83F2-DC32-4382-25364248C73C}"/>
              </a:ext>
            </a:extLst>
          </p:cNvPr>
          <p:cNvGrpSpPr/>
          <p:nvPr/>
        </p:nvGrpSpPr>
        <p:grpSpPr>
          <a:xfrm>
            <a:off x="3124982" y="3136632"/>
            <a:ext cx="6558219" cy="2798445"/>
            <a:chOff x="4750" y="7778"/>
            <a:chExt cx="10328" cy="440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4EA483C-1483-34C2-06C4-AEEF755EC992}"/>
                </a:ext>
              </a:extLst>
            </p:cNvPr>
            <p:cNvSpPr txBox="1"/>
            <p:nvPr/>
          </p:nvSpPr>
          <p:spPr>
            <a:xfrm>
              <a:off x="4854" y="7778"/>
              <a:ext cx="10224" cy="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600"/>
                </a:lnSpc>
              </a:pP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2025.2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2026.3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  <a:cs typeface="Microsoft YaHei Light" charset="-122"/>
                </a:rPr>
                <a:t> </a:t>
              </a:r>
              <a:r>
                <a:rPr kumimoji="1" lang="zh-CN" altLang="en-US" sz="1100" dirty="0">
                  <a:solidFill>
                    <a:srgbClr val="154563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广州之云科技｜品牌与增长部门负责人｜广州花都区数字化转型平台总运营单位</a:t>
              </a:r>
              <a:endParaRPr kumimoji="1"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DF1E48E-ED31-EECB-4653-9A49948FDD20}"/>
                </a:ext>
              </a:extLst>
            </p:cNvPr>
            <p:cNvSpPr txBox="1"/>
            <p:nvPr/>
          </p:nvSpPr>
          <p:spPr>
            <a:xfrm>
              <a:off x="4750" y="8188"/>
              <a:ext cx="6675" cy="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制定增长年度规划、SOP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，搭建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基础设施，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带领团队从零建立运营能力，全年沉淀私域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企业2000+、企业人次8000+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负责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2000㎡线下展厅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内容与运营规划，半年接待100+场政企参观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5+地区政府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运营模式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感兴趣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其中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1地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区政府深入对接后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明确提出由我方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承接代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运营，推进至方案阶段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>
                <a:lnSpc>
                  <a:spcPts val="1600"/>
                </a:lnSpc>
                <a:buFontTx/>
                <a:buAutoNum type="arabicPeriod"/>
              </a:pP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统筹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线下宣讲与活动获客，全年向销售输送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高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意向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及预算基础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的企业线索50+家；通过跨部门协同，展会单日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近1000条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留资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；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 marL="228600" indent="-228600">
                <a:lnSpc>
                  <a:spcPts val="1600"/>
                </a:lnSpc>
                <a:buFontTx/>
                <a:buAutoNum type="arabicPeriod"/>
              </a:pP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深入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调研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企业50+家，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洞察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并推动AI赋能场景（AI调香、AI辅助设计、AI零件识别等），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并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将调研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结果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沉淀为洞察库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，为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内容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、</a:t>
              </a:r>
              <a:r>
                <a:rPr kumimoji="1" lang="zh-CN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活动</a:t>
              </a:r>
              <a:r>
                <a:rPr kumimoji="1"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提供依据。</a:t>
              </a:r>
              <a:endParaRPr kumimoji="1"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Light" charset="-122"/>
                <a:ea typeface="Microsoft YaHei Light" charset="-122"/>
              </a:endParaRPr>
            </a:p>
            <a:p>
              <a:pPr>
                <a:lnSpc>
                  <a:spcPts val="1600"/>
                </a:lnSpc>
              </a:pPr>
              <a:r>
                <a:rPr kumimoji="1"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｜荣誉：年度绩效</a:t>
              </a:r>
              <a:r>
                <a:rPr kumimoji="1" lang="en-US" altLang="zh-CN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 Light" charset="-122"/>
                  <a:ea typeface="Microsoft YaHei Light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1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2926</TotalTime>
  <Words>3911</Words>
  <Application>Microsoft Macintosh PowerPoint</Application>
  <PresentationFormat>自定义</PresentationFormat>
  <Paragraphs>185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DengXian</vt:lpstr>
      <vt:lpstr>微软雅黑</vt:lpstr>
      <vt:lpstr>微软雅黑</vt:lpstr>
      <vt:lpstr>Microsoft YaHei Light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May</cp:lastModifiedBy>
  <cp:revision>60</cp:revision>
  <dcterms:created xsi:type="dcterms:W3CDTF">2024-11-06T03:41:54Z</dcterms:created>
  <dcterms:modified xsi:type="dcterms:W3CDTF">2026-05-28T11:00:13Z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79B23EBD90FF456357BE4D64142A0E7E</vt:lpwstr>
  </property>
  <property fmtid="{D5CDD505-2E9C-101B-9397-08002B2CF9AE}" pid="3" name="KSOProductBuildVer">
    <vt:lpwstr>2052-6.9.0.8865</vt:lpwstr>
  </property>
</Properties>
</file>